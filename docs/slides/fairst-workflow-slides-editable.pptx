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Agricultural research data lives across dozens of repositories with different schemas, formats, and conventions. ARCs (Annotated Research Contexts) are the emerging standard for packaging that data, and FAIRagro's Search Hub is where researchers discover it. FAIRweaver's conversion pipeline bridges the gap: take metadata from any source, map it into an ARC, then extract the FAIRagro-specific schema for Search Hub ingestion.</a:t>
            </a:r>
          </a:p>
          <a:p/>
          <a:p>
            <a:r>
              <a:t>The challenge is structural. Every ARC is a JSON-LD graph, and different research groups model the same domain concepts at different depths and in different graph locations. The pipeline must handle that variability — or define conventions to eliminate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is strictly sequential. Schema.org JSON-LD from an RDI enters at the top, gets transformed by FAIRagro templates, and produces two outputs in order: 1. Output A — ARC RO-Crate. 2. Output B — FAIRagro JSON, derived from Output A.</a:t>
            </a:r>
          </a:p>
          <a:p/>
          <a:p>
            <a:r>
              <a:t>Two paths feed the ARC into Search Hub:</a:t>
            </a:r>
          </a:p>
          <a:p>
            <a:r>
              <a:t>- Path 1 (direct harvest): GitLab DataHub stores the ARC; a harvester reads it.</a:t>
            </a:r>
          </a:p>
          <a:p>
            <a:r>
              <a:t>- Path 2 (orchestrated): The FAIRagro Middleware API coordinates the full workflow.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test files: Synthetic (wheat-full) → full extraction. Real — Small (dronflyover) → partial, mappable fields only. Real — Large (muenchenberg-lte) → basic harvest only.</a:t>
            </a:r>
          </a:p>
          <a:p/>
          <a:p>
            <a:r>
              <a:t>Compliance determines extraction depth. Well-structured ARCs enable full extraction.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Drone Flyover (UC13): sensorType is 1 hop from Assay via measurementMethod → DefinedTerm. cropSpecies is 4 hops from Study via about → LabProcess → object → Sample → additionalProperty → PropertyValue.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Müncheberg LTE: Study disconnected from hasPart chain. Crop species via shorter path: Source → additionalProperty → CharacteristicValue (2 hops). 27+ assays, no sensor metadata (crop phenology, not remote sensing).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path for unambiguous crop extraction: Study → about → LabProcess → object → Sample/additionalType:Material → additionalProperty → PropertyValue/propertyID.</a:t>
            </a:r>
          </a:p>
          <a:p/>
          <a:p>
            <a:r>
              <a:t>Open questions: (1) How to formally specify traversal paths? (2) How to standardize ontology term mappings via SSSOM?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0"/>
            <a:ext cx="10972800" cy="731520"/>
          </a:xfrm>
          <a:prstGeom prst="rect">
            <a:avLst/>
          </a:prstGeom>
          <a:noFill/>
        </p:spPr>
        <p:txBody>
          <a:bodyPr wrap="square">
            <a:spAutoFit/>
          </a:bodyPr>
          <a:lstStyle/>
          <a:p>
            <a:r>
              <a:rPr sz="3600" b="1">
                <a:solidFill>
                  <a:srgbClr val="1565C0"/>
                </a:solidFill>
                <a:latin typeface="Calibri"/>
              </a:rPr>
              <a:t>Schema.org → ARC → FAIRagro Workflow</a:t>
            </a:r>
          </a:p>
        </p:txBody>
      </p:sp>
      <p:sp>
        <p:nvSpPr>
          <p:cNvPr id="3" name="TextBox 2"/>
          <p:cNvSpPr txBox="1"/>
          <p:nvPr/>
        </p:nvSpPr>
        <p:spPr>
          <a:xfrm>
            <a:off x="457200" y="3657600"/>
            <a:ext cx="10972800" cy="731520"/>
          </a:xfrm>
          <a:prstGeom prst="rect">
            <a:avLst/>
          </a:prstGeom>
          <a:noFill/>
        </p:spPr>
        <p:txBody>
          <a:bodyPr wrap="square">
            <a:spAutoFit/>
          </a:bodyPr>
          <a:lstStyle/>
          <a:p>
            <a:pPr algn="l"/>
            <a:r>
              <a:rPr sz="2000" b="0">
                <a:solidFill>
                  <a:srgbClr val="616161"/>
                </a:solidFill>
                <a:latin typeface="Calibri"/>
              </a:rPr>
              <a:t>TA3/4 Retreat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r>
              <a:rPr sz="2800" b="1">
                <a:solidFill>
                  <a:srgbClr val="1565C0"/>
                </a:solidFill>
                <a:latin typeface="Calibri"/>
              </a:rPr>
              <a:t>FAIRagro Metadata Transformation Pipeline</a:t>
            </a:r>
          </a:p>
        </p:txBody>
      </p:sp>
      <p:sp>
        <p:nvSpPr>
          <p:cNvPr id="3" name="TextBox 2"/>
          <p:cNvSpPr txBox="1"/>
          <p:nvPr/>
        </p:nvSpPr>
        <p:spPr>
          <a:xfrm>
            <a:off x="457200" y="1371600"/>
            <a:ext cx="10972800" cy="4572000"/>
          </a:xfrm>
          <a:prstGeom prst="rect">
            <a:avLst/>
          </a:prstGeom>
          <a:noFill/>
        </p:spPr>
        <p:txBody>
          <a:bodyPr wrap="square">
            <a:spAutoFit/>
          </a:bodyPr>
          <a:lstStyle/>
          <a:p>
            <a:r>
              <a:rPr sz="1600" b="0">
                <a:solidFill>
                  <a:srgbClr val="000000"/>
                </a:solidFill>
                <a:latin typeface="Calibri"/>
              </a:rPr>
              <a:t>Sequential dependency: Output B (FAIRagro JSON) is derived from Output A (ARC RO-Crate) — not a parallel output</a:t>
            </a:r>
          </a:p>
          <a:p>
            <a:r>
              <a:rPr sz="1600" b="0">
                <a:solidFill>
                  <a:srgbClr val="000000"/>
                </a:solidFill>
                <a:latin typeface="Calibri"/>
              </a:rPr>
              <a:t>Two harvest paths converge on the same FAIRagro JSON schema:</a:t>
            </a:r>
          </a:p>
          <a:p>
            <a:r>
              <a:rPr sz="1600" b="0">
                <a:solidFill>
                  <a:srgbClr val="000000"/>
                </a:solidFill>
                <a:latin typeface="Calibri"/>
              </a:rPr>
              <a:t>  • Path 1 (solid): Direct harvest from GitLab DataHub where ARCs are stored</a:t>
            </a:r>
          </a:p>
          <a:p>
            <a:r>
              <a:rPr sz="1600" b="0">
                <a:solidFill>
                  <a:srgbClr val="000000"/>
                </a:solidFill>
                <a:latin typeface="Calibri"/>
              </a:rPr>
              <a:t>  • Path 2 (dashed): Via FAIRagro Middleware API (federated service)</a:t>
            </a:r>
          </a:p>
          <a:p>
            <a:r>
              <a:rPr sz="1600" b="0">
                <a:solidFill>
                  <a:srgbClr val="000000"/>
                </a:solidFill>
                <a:latin typeface="Calibri"/>
              </a:rPr>
              <a:t>Both paths produce identical FAIRagro schema.json ingested into SearchHub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r>
              <a:rPr sz="2800" b="1">
                <a:solidFill>
                  <a:srgbClr val="1565C0"/>
                </a:solidFill>
                <a:latin typeface="Calibri"/>
              </a:rPr>
              <a:t>Three File Scenarios: Input → ARC → FAIRagro Output</a:t>
            </a:r>
          </a:p>
        </p:txBody>
      </p:sp>
      <p:graphicFrame>
        <p:nvGraphicFramePr>
          <p:cNvPr id="3" name="Table 2"/>
          <p:cNvGraphicFramePr>
            <a:graphicFrameLocks noGrp="1"/>
          </p:cNvGraphicFramePr>
          <p:nvPr/>
        </p:nvGraphicFramePr>
        <p:xfrm>
          <a:off x="457200" y="1371600"/>
          <a:ext cx="10972800" cy="2286000"/>
        </p:xfrm>
        <a:graphic>
          <a:graphicData uri="http://schemas.openxmlformats.org/drawingml/2006/table">
            <a:tbl>
              <a:tblPr firstRow="1" bandRow="1">
                <a:tableStyleId>{5C22544A-7EE6-4342-B048-85BDC9FD1C3A}</a:tableStyleId>
              </a:tblPr>
              <a:tblGrid>
                <a:gridCol w="2743200"/>
                <a:gridCol w="2743200"/>
                <a:gridCol w="2743200"/>
                <a:gridCol w="2743200"/>
              </a:tblGrid>
              <a:tr h="571500">
                <a:tc>
                  <a:txBody>
                    <a:bodyPr/>
                    <a:lstStyle/>
                    <a:p>
                      <a:r>
                        <a:rPr sz="1400" b="1">
                          <a:solidFill>
                            <a:srgbClr val="FFFFFF"/>
                          </a:solidFill>
                          <a:latin typeface="Calibri"/>
                        </a:rPr>
                        <a:t>Case</a:t>
                      </a:r>
                    </a:p>
                  </a:txBody>
                  <a:tcPr>
                    <a:solidFill>
                      <a:srgbClr val="1565C0"/>
                    </a:solidFill>
                  </a:tcPr>
                </a:tc>
                <a:tc>
                  <a:txBody>
                    <a:bodyPr/>
                    <a:lstStyle/>
                    <a:p>
                      <a:r>
                        <a:rPr sz="1400" b="1">
                          <a:solidFill>
                            <a:srgbClr val="FFFFFF"/>
                          </a:solidFill>
                          <a:latin typeface="Calibri"/>
                        </a:rPr>
                        <a:t>Input File</a:t>
                      </a:r>
                    </a:p>
                  </a:txBody>
                  <a:tcPr>
                    <a:solidFill>
                      <a:srgbClr val="1565C0"/>
                    </a:solidFill>
                  </a:tcPr>
                </a:tc>
                <a:tc>
                  <a:txBody>
                    <a:bodyPr/>
                    <a:lstStyle/>
                    <a:p>
                      <a:r>
                        <a:rPr sz="1400" b="1">
                          <a:solidFill>
                            <a:srgbClr val="FFFFFF"/>
                          </a:solidFill>
                          <a:latin typeface="Calibri"/>
                        </a:rPr>
                        <a:t>ARC Output</a:t>
                      </a:r>
                    </a:p>
                  </a:txBody>
                  <a:tcPr>
                    <a:solidFill>
                      <a:srgbClr val="1565C0"/>
                    </a:solidFill>
                  </a:tcPr>
                </a:tc>
                <a:tc>
                  <a:txBody>
                    <a:bodyPr/>
                    <a:lstStyle/>
                    <a:p>
                      <a:r>
                        <a:rPr sz="1400" b="1">
                          <a:solidFill>
                            <a:srgbClr val="FFFFFF"/>
                          </a:solidFill>
                          <a:latin typeface="Calibri"/>
                        </a:rPr>
                        <a:t>FAIRagro Output</a:t>
                      </a:r>
                    </a:p>
                  </a:txBody>
                  <a:tcPr>
                    <a:solidFill>
                      <a:srgbClr val="1565C0"/>
                    </a:solidFill>
                  </a:tcPr>
                </a:tc>
              </a:tr>
              <a:tr h="571500">
                <a:tc>
                  <a:txBody>
                    <a:bodyPr/>
                    <a:lstStyle/>
                    <a:p>
                      <a:r>
                        <a:rPr sz="1400" b="0">
                          <a:solidFill>
                            <a:srgbClr val="000000"/>
                          </a:solidFill>
                          <a:latin typeface="Calibri"/>
                        </a:rPr>
                        <a:t>Synthetic</a:t>
                      </a:r>
                    </a:p>
                  </a:txBody>
                  <a:tcPr/>
                </a:tc>
                <a:tc>
                  <a:txBody>
                    <a:bodyPr/>
                    <a:lstStyle/>
                    <a:p>
                      <a:r>
                        <a:rPr sz="1400" b="0">
                          <a:solidFill>
                            <a:srgbClr val="000000"/>
                          </a:solidFill>
                          <a:latin typeface="Calibri"/>
                        </a:rPr>
                        <a:t>schema-org-wheat-full.json</a:t>
                      </a:r>
                    </a:p>
                  </a:txBody>
                  <a:tcPr/>
                </a:tc>
                <a:tc>
                  <a:txBody>
                    <a:bodyPr/>
                    <a:lstStyle/>
                    <a:p>
                      <a:r>
                        <a:rPr sz="1400" b="0">
                          <a:solidFill>
                            <a:srgbClr val="000000"/>
                          </a:solidFill>
                          <a:latin typeface="Calibri"/>
                        </a:rPr>
                        <a:t>arc-ro-crate-wheat-full ✓ compliant</a:t>
                      </a:r>
                    </a:p>
                  </a:txBody>
                  <a:tcPr/>
                </a:tc>
                <a:tc>
                  <a:txBody>
                    <a:bodyPr/>
                    <a:lstStyle/>
                    <a:p>
                      <a:r>
                        <a:rPr sz="1400" b="0">
                          <a:solidFill>
                            <a:srgbClr val="000000"/>
                          </a:solidFill>
                          <a:latin typeface="Calibri"/>
                        </a:rPr>
                        <a:t>Full extraction ✓</a:t>
                      </a:r>
                    </a:p>
                  </a:txBody>
                  <a:tcPr/>
                </a:tc>
              </a:tr>
              <a:tr h="571500">
                <a:tc>
                  <a:txBody>
                    <a:bodyPr/>
                    <a:lstStyle/>
                    <a:p>
                      <a:r>
                        <a:rPr sz="1400" b="0">
                          <a:solidFill>
                            <a:srgbClr val="000000"/>
                          </a:solidFill>
                          <a:latin typeface="Calibri"/>
                        </a:rPr>
                        <a:t>Real — Small</a:t>
                      </a:r>
                    </a:p>
                  </a:txBody>
                  <a:tcPr/>
                </a:tc>
                <a:tc>
                  <a:txBody>
                    <a:bodyPr/>
                    <a:lstStyle/>
                    <a:p>
                      <a:r>
                        <a:rPr sz="1400" b="0">
                          <a:solidFill>
                            <a:srgbClr val="000000"/>
                          </a:solidFill>
                          <a:latin typeface="Calibri"/>
                        </a:rPr>
                        <a:t>arc-ro-crate-dronflyover.json (&lt;10 MB)</a:t>
                      </a:r>
                    </a:p>
                  </a:txBody>
                  <a:tcPr/>
                </a:tc>
                <a:tc>
                  <a:txBody>
                    <a:bodyPr/>
                    <a:lstStyle/>
                    <a:p>
                      <a:r>
                        <a:rPr sz="1400" b="0">
                          <a:solidFill>
                            <a:srgbClr val="000000"/>
                          </a:solidFill>
                          <a:latin typeface="Calibri"/>
                        </a:rPr>
                        <a:t>Manual, partial ⚠</a:t>
                      </a:r>
                    </a:p>
                  </a:txBody>
                  <a:tcPr/>
                </a:tc>
                <a:tc>
                  <a:txBody>
                    <a:bodyPr/>
                    <a:lstStyle/>
                    <a:p>
                      <a:r>
                        <a:rPr sz="1400" b="0">
                          <a:solidFill>
                            <a:srgbClr val="000000"/>
                          </a:solidFill>
                          <a:latin typeface="Calibri"/>
                        </a:rPr>
                        <a:t>Partial — mappable fields only</a:t>
                      </a:r>
                    </a:p>
                  </a:txBody>
                  <a:tcPr/>
                </a:tc>
              </a:tr>
              <a:tr h="571500">
                <a:tc>
                  <a:txBody>
                    <a:bodyPr/>
                    <a:lstStyle/>
                    <a:p>
                      <a:r>
                        <a:rPr sz="1400" b="0">
                          <a:solidFill>
                            <a:srgbClr val="000000"/>
                          </a:solidFill>
                          <a:latin typeface="Calibri"/>
                        </a:rPr>
                        <a:t>Real — Large</a:t>
                      </a:r>
                    </a:p>
                  </a:txBody>
                  <a:tcPr/>
                </a:tc>
                <a:tc>
                  <a:txBody>
                    <a:bodyPr/>
                    <a:lstStyle/>
                    <a:p>
                      <a:r>
                        <a:rPr sz="1400" b="0">
                          <a:solidFill>
                            <a:srgbClr val="000000"/>
                          </a:solidFill>
                          <a:latin typeface="Calibri"/>
                        </a:rPr>
                        <a:t>arc-ro-crate-muenchenberg-lte.json (&gt;100 MB)</a:t>
                      </a:r>
                    </a:p>
                  </a:txBody>
                  <a:tcPr/>
                </a:tc>
                <a:tc>
                  <a:txBody>
                    <a:bodyPr/>
                    <a:lstStyle/>
                    <a:p>
                      <a:r>
                        <a:rPr sz="1400" b="0">
                          <a:solidFill>
                            <a:srgbClr val="000000"/>
                          </a:solidFill>
                          <a:latin typeface="Calibri"/>
                        </a:rPr>
                        <a:t>Manual, partial ⚠</a:t>
                      </a:r>
                    </a:p>
                  </a:txBody>
                  <a:tcPr/>
                </a:tc>
                <a:tc>
                  <a:txBody>
                    <a:bodyPr/>
                    <a:lstStyle/>
                    <a:p>
                      <a:r>
                        <a:rPr sz="1400" b="0">
                          <a:solidFill>
                            <a:srgbClr val="000000"/>
                          </a:solidFill>
                          <a:latin typeface="Calibri"/>
                        </a:rPr>
                        <a:t>Basic harvest only</a:t>
                      </a:r>
                    </a:p>
                  </a:txBody>
                  <a:tcPr/>
                </a:tc>
              </a:tr>
            </a:tbl>
          </a:graphicData>
        </a:graphic>
      </p:graphicFrame>
      <p:sp>
        <p:nvSpPr>
          <p:cNvPr id="4" name="TextBox 3"/>
          <p:cNvSpPr txBox="1"/>
          <p:nvPr/>
        </p:nvSpPr>
        <p:spPr>
          <a:xfrm>
            <a:off x="457200" y="4572000"/>
            <a:ext cx="10972800" cy="731520"/>
          </a:xfrm>
          <a:prstGeom prst="rect">
            <a:avLst/>
          </a:prstGeom>
          <a:noFill/>
        </p:spPr>
        <p:txBody>
          <a:bodyPr wrap="square">
            <a:spAutoFit/>
          </a:bodyPr>
          <a:lstStyle/>
          <a:p>
            <a:pPr algn="l"/>
            <a:r>
              <a:rPr sz="1800" b="1">
                <a:solidFill>
                  <a:srgbClr val="2E7D32"/>
                </a:solidFill>
                <a:latin typeface="Calibri"/>
              </a:rPr>
              <a:t>💡 If an ARC follows the FAIRagro specification → full metadata extraction. If not → only basic information is harvested.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r>
              <a:rPr sz="2800" b="1">
                <a:solidFill>
                  <a:srgbClr val="1565C0"/>
                </a:solidFill>
                <a:latin typeface="Calibri"/>
              </a:rPr>
              <a:t>Examining ARC Structure: Domain Objects at Different Depths</a:t>
            </a:r>
          </a:p>
        </p:txBody>
      </p:sp>
      <p:sp>
        <p:nvSpPr>
          <p:cNvPr id="3" name="TextBox 2"/>
          <p:cNvSpPr txBox="1"/>
          <p:nvPr/>
        </p:nvSpPr>
        <p:spPr>
          <a:xfrm>
            <a:off x="457200" y="1188720"/>
            <a:ext cx="10972800" cy="1371600"/>
          </a:xfrm>
          <a:prstGeom prst="rect">
            <a:avLst/>
          </a:prstGeom>
          <a:noFill/>
        </p:spPr>
        <p:txBody>
          <a:bodyPr wrap="square">
            <a:spAutoFit/>
          </a:bodyPr>
          <a:lstStyle/>
          <a:p>
            <a:r>
              <a:rPr sz="1600" b="0">
                <a:solidFill>
                  <a:srgbClr val="000000"/>
                </a:solidFill>
                <a:latin typeface="Calibri"/>
              </a:rPr>
              <a:t>Goal:</a:t>
            </a:r>
          </a:p>
          <a:p>
            <a:r>
              <a:rPr sz="1600" b="0">
                <a:solidFill>
                  <a:srgbClr val="000000"/>
                </a:solidFill>
                <a:latin typeface="Calibri"/>
              </a:rPr>
              <a:t>  • Understand how Agrischemas concepts map into ARC RO-Crate</a:t>
            </a:r>
          </a:p>
          <a:p>
            <a:r>
              <a:rPr sz="1600" b="0">
                <a:solidFill>
                  <a:srgbClr val="000000"/>
                </a:solidFill>
                <a:latin typeface="Calibri"/>
              </a:rPr>
              <a:t>  • Show that equivalent domain concepts require very different traversal depths</a:t>
            </a:r>
          </a:p>
        </p:txBody>
      </p:sp>
      <p:pic>
        <p:nvPicPr>
          <p:cNvPr id="4" name="Picture 3" descr="slide3-drone.png"/>
          <p:cNvPicPr>
            <a:picLocks noChangeAspect="1"/>
          </p:cNvPicPr>
          <p:nvPr/>
        </p:nvPicPr>
        <p:blipFill>
          <a:blip r:embed="rId2"/>
          <a:stretch>
            <a:fillRect/>
          </a:stretch>
        </p:blipFill>
        <p:spPr>
          <a:xfrm>
            <a:off x="1371600" y="2560320"/>
            <a:ext cx="9144000" cy="13950061"/>
          </a:xfrm>
          <a:prstGeom prst="rect">
            <a:avLst/>
          </a:prstGeom>
        </p:spPr>
      </p:pic>
      <p:sp>
        <p:nvSpPr>
          <p:cNvPr id="5" name="TextBox 4"/>
          <p:cNvSpPr txBox="1"/>
          <p:nvPr/>
        </p:nvSpPr>
        <p:spPr>
          <a:xfrm>
            <a:off x="457200" y="6217920"/>
            <a:ext cx="10972800" cy="457200"/>
          </a:xfrm>
          <a:prstGeom prst="rect">
            <a:avLst/>
          </a:prstGeom>
          <a:noFill/>
        </p:spPr>
        <p:txBody>
          <a:bodyPr wrap="square">
            <a:spAutoFit/>
          </a:bodyPr>
          <a:lstStyle/>
          <a:p>
            <a:pPr algn="l"/>
            <a:r>
              <a:rPr sz="1400" b="0">
                <a:solidFill>
                  <a:srgbClr val="616161"/>
                </a:solidFill>
                <a:latin typeface="Calibri"/>
              </a:rPr>
              <a:t>Example ARC RO-Crate: UC13 drone-flyover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r>
              <a:rPr sz="2800" b="1">
                <a:solidFill>
                  <a:srgbClr val="1565C0"/>
                </a:solidFill>
                <a:latin typeface="Calibri"/>
              </a:rPr>
              <a:t>Müncheberg ARC: A Different Structural Pattern</a:t>
            </a:r>
          </a:p>
        </p:txBody>
      </p:sp>
      <p:sp>
        <p:nvSpPr>
          <p:cNvPr id="3" name="TextBox 2"/>
          <p:cNvSpPr txBox="1"/>
          <p:nvPr/>
        </p:nvSpPr>
        <p:spPr>
          <a:xfrm>
            <a:off x="457200" y="1188720"/>
            <a:ext cx="10972800" cy="1097280"/>
          </a:xfrm>
          <a:prstGeom prst="rect">
            <a:avLst/>
          </a:prstGeom>
          <a:noFill/>
        </p:spPr>
        <p:txBody>
          <a:bodyPr wrap="square">
            <a:spAutoFit/>
          </a:bodyPr>
          <a:lstStyle/>
          <a:p>
            <a:r>
              <a:rPr sz="1600" b="0">
                <a:solidFill>
                  <a:srgbClr val="000000"/>
                </a:solidFill>
                <a:latin typeface="Calibri"/>
              </a:rPr>
              <a:t>Goal:</a:t>
            </a:r>
          </a:p>
          <a:p>
            <a:r>
              <a:rPr sz="1600" b="0">
                <a:solidFill>
                  <a:srgbClr val="000000"/>
                </a:solidFill>
                <a:latin typeface="Calibri"/>
              </a:rPr>
              <a:t>  • Show another real ARC with a different structural pattern</a:t>
            </a:r>
          </a:p>
          <a:p>
            <a:r>
              <a:rPr sz="1600" b="0">
                <a:solidFill>
                  <a:srgbClr val="000000"/>
                </a:solidFill>
                <a:latin typeface="Calibri"/>
              </a:rPr>
              <a:t>  • Reinforce that parser must handle multiple modeling conventions</a:t>
            </a:r>
          </a:p>
        </p:txBody>
      </p:sp>
      <p:pic>
        <p:nvPicPr>
          <p:cNvPr id="4" name="Picture 3" descr="slide4-muenchenberg.png"/>
          <p:cNvPicPr>
            <a:picLocks noChangeAspect="1"/>
          </p:cNvPicPr>
          <p:nvPr/>
        </p:nvPicPr>
        <p:blipFill>
          <a:blip r:embed="rId2"/>
          <a:stretch>
            <a:fillRect/>
          </a:stretch>
        </p:blipFill>
        <p:spPr>
          <a:xfrm>
            <a:off x="3200400" y="2103120"/>
            <a:ext cx="8229600" cy="2988791"/>
          </a:xfrm>
          <a:prstGeom prst="rect">
            <a:avLst/>
          </a:prstGeom>
        </p:spPr>
      </p:pic>
      <p:sp>
        <p:nvSpPr>
          <p:cNvPr id="5" name="TextBox 4"/>
          <p:cNvSpPr txBox="1"/>
          <p:nvPr/>
        </p:nvSpPr>
        <p:spPr>
          <a:xfrm>
            <a:off x="457200" y="6217920"/>
            <a:ext cx="10972800" cy="457200"/>
          </a:xfrm>
          <a:prstGeom prst="rect">
            <a:avLst/>
          </a:prstGeom>
          <a:noFill/>
        </p:spPr>
        <p:txBody>
          <a:bodyPr wrap="square">
            <a:spAutoFit/>
          </a:bodyPr>
          <a:lstStyle/>
          <a:p>
            <a:pPr algn="l"/>
            <a:r>
              <a:rPr sz="1400" b="0">
                <a:solidFill>
                  <a:srgbClr val="616161"/>
                </a:solidFill>
                <a:latin typeface="Calibri"/>
              </a:rPr>
              <a:t>Example ARC RO-Crate: Müncheberg LTE</a:t>
            </a:r>
          </a:p>
        </p:txBody>
      </p:sp>
      <p:graphicFrame>
        <p:nvGraphicFramePr>
          <p:cNvPr id="6" name="Table 5"/>
          <p:cNvGraphicFramePr>
            <a:graphicFrameLocks noGrp="1"/>
          </p:cNvGraphicFramePr>
          <p:nvPr/>
        </p:nvGraphicFramePr>
        <p:xfrm>
          <a:off x="457200" y="3200400"/>
          <a:ext cx="10972800" cy="2743200"/>
        </p:xfrm>
        <a:graphic>
          <a:graphicData uri="http://schemas.openxmlformats.org/drawingml/2006/table">
            <a:tbl>
              <a:tblPr firstRow="1" bandRow="1">
                <a:tableStyleId>{5C22544A-7EE6-4342-B048-85BDC9FD1C3A}</a:tableStyleId>
              </a:tblPr>
              <a:tblGrid>
                <a:gridCol w="3657600"/>
                <a:gridCol w="3657600"/>
                <a:gridCol w="3657600"/>
              </a:tblGrid>
              <a:tr h="457200">
                <a:tc>
                  <a:txBody>
                    <a:bodyPr/>
                    <a:lstStyle/>
                    <a:p>
                      <a:r>
                        <a:rPr sz="1400" b="1">
                          <a:solidFill>
                            <a:srgbClr val="FFFFFF"/>
                          </a:solidFill>
                          <a:latin typeface="Calibri"/>
                        </a:rPr>
                        <a:t>Aspect</a:t>
                      </a:r>
                    </a:p>
                  </a:txBody>
                  <a:tcPr>
                    <a:solidFill>
                      <a:srgbClr val="1565C0"/>
                    </a:solidFill>
                  </a:tcPr>
                </a:tc>
                <a:tc>
                  <a:txBody>
                    <a:bodyPr/>
                    <a:lstStyle/>
                    <a:p>
                      <a:r>
                        <a:rPr sz="1400" b="1">
                          <a:solidFill>
                            <a:srgbClr val="FFFFFF"/>
                          </a:solidFill>
                          <a:latin typeface="Calibri"/>
                        </a:rPr>
                        <a:t>Drone Flyover</a:t>
                      </a:r>
                    </a:p>
                  </a:txBody>
                  <a:tcPr>
                    <a:solidFill>
                      <a:srgbClr val="1565C0"/>
                    </a:solidFill>
                  </a:tcPr>
                </a:tc>
                <a:tc>
                  <a:txBody>
                    <a:bodyPr/>
                    <a:lstStyle/>
                    <a:p>
                      <a:r>
                        <a:rPr sz="1400" b="1">
                          <a:solidFill>
                            <a:srgbClr val="FFFFFF"/>
                          </a:solidFill>
                          <a:latin typeface="Calibri"/>
                        </a:rPr>
                        <a:t>Müncheberg LTE</a:t>
                      </a:r>
                    </a:p>
                  </a:txBody>
                  <a:tcPr>
                    <a:solidFill>
                      <a:srgbClr val="1565C0"/>
                    </a:solidFill>
                  </a:tcPr>
                </a:tc>
              </a:tr>
              <a:tr h="457200">
                <a:tc>
                  <a:txBody>
                    <a:bodyPr/>
                    <a:lstStyle/>
                    <a:p>
                      <a:r>
                        <a:rPr sz="1400" b="0">
                          <a:solidFill>
                            <a:srgbClr val="000000"/>
                          </a:solidFill>
                          <a:latin typeface="Calibri"/>
                        </a:rPr>
                        <a:t>Study entity</a:t>
                      </a:r>
                    </a:p>
                  </a:txBody>
                  <a:tcPr/>
                </a:tc>
                <a:tc>
                  <a:txBody>
                    <a:bodyPr/>
                    <a:lstStyle/>
                    <a:p>
                      <a:r>
                        <a:rPr sz="1400" b="0">
                          <a:solidFill>
                            <a:srgbClr val="000000"/>
                          </a:solidFill>
                          <a:latin typeface="Calibri"/>
                        </a:rPr>
                        <a:t>Explicit, in hasPart chain</a:t>
                      </a:r>
                    </a:p>
                  </a:txBody>
                  <a:tcPr/>
                </a:tc>
                <a:tc>
                  <a:txBody>
                    <a:bodyPr/>
                    <a:lstStyle/>
                    <a:p>
                      <a:r>
                        <a:rPr sz="1400" b="0">
                          <a:solidFill>
                            <a:srgbClr val="000000"/>
                          </a:solidFill>
                          <a:latin typeface="Calibri"/>
                        </a:rPr>
                        <a:t>Present but disconnected (not in hasPart)</a:t>
                      </a:r>
                    </a:p>
                  </a:txBody>
                  <a:tcPr/>
                </a:tc>
              </a:tr>
              <a:tr h="457200">
                <a:tc>
                  <a:txBody>
                    <a:bodyPr/>
                    <a:lstStyle/>
                    <a:p>
                      <a:r>
                        <a:rPr sz="1400" b="0">
                          <a:solidFill>
                            <a:srgbClr val="000000"/>
                          </a:solidFill>
                          <a:latin typeface="Calibri"/>
                        </a:rPr>
                        <a:t>Crop species path (short)</a:t>
                      </a:r>
                    </a:p>
                  </a:txBody>
                  <a:tcPr/>
                </a:tc>
                <a:tc>
                  <a:txBody>
                    <a:bodyPr/>
                    <a:lstStyle/>
                    <a:p>
                      <a:r>
                        <a:rPr sz="1400" b="0">
                          <a:solidFill>
                            <a:srgbClr val="000000"/>
                          </a:solidFill>
                          <a:latin typeface="Calibri"/>
                        </a:rPr>
                        <a:t>Study → LabProcess → Sample → PropertyValue (4 hops)</a:t>
                      </a:r>
                    </a:p>
                  </a:txBody>
                  <a:tcPr/>
                </a:tc>
                <a:tc>
                  <a:txBody>
                    <a:bodyPr/>
                    <a:lstStyle/>
                    <a:p>
                      <a:r>
                        <a:rPr sz="1400" b="0">
                          <a:solidFill>
                            <a:srgbClr val="000000"/>
                          </a:solidFill>
                          <a:latin typeface="Calibri"/>
                        </a:rPr>
                        <a:t>Source → additionalProperty → CharacteristicValue (2 hops)</a:t>
                      </a:r>
                    </a:p>
                  </a:txBody>
                  <a:tcPr/>
                </a:tc>
              </a:tr>
              <a:tr h="457200">
                <a:tc>
                  <a:txBody>
                    <a:bodyPr/>
                    <a:lstStyle/>
                    <a:p>
                      <a:r>
                        <a:rPr sz="1400" b="0">
                          <a:solidFill>
                            <a:srgbClr val="000000"/>
                          </a:solidFill>
                          <a:latin typeface="Calibri"/>
                        </a:rPr>
                        <a:t>Crop species path (long)</a:t>
                      </a:r>
                    </a:p>
                  </a:txBody>
                  <a:tcPr/>
                </a:tc>
                <a:tc>
                  <a:txBody>
                    <a:bodyPr/>
                    <a:lstStyle/>
                    <a:p>
                      <a:r>
                        <a:rPr sz="1400" b="0">
                          <a:solidFill>
                            <a:srgbClr val="000000"/>
                          </a:solidFill>
                          <a:latin typeface="Calibri"/>
                        </a:rPr>
                        <a:t>Same as short (only path)</a:t>
                      </a:r>
                    </a:p>
                  </a:txBody>
                  <a:tcPr/>
                </a:tc>
                <a:tc>
                  <a:txBody>
                    <a:bodyPr/>
                    <a:lstStyle/>
                    <a:p>
                      <a:r>
                        <a:rPr sz="1400" b="0">
                          <a:solidFill>
                            <a:srgbClr val="000000"/>
                          </a:solidFill>
                          <a:latin typeface="Calibri"/>
                        </a:rPr>
                        <a:t>ALSO via LabProcess → object → Source → additionalProperty</a:t>
                      </a:r>
                    </a:p>
                  </a:txBody>
                  <a:tcPr/>
                </a:tc>
              </a:tr>
              <a:tr h="457200">
                <a:tc>
                  <a:txBody>
                    <a:bodyPr/>
                    <a:lstStyle/>
                    <a:p>
                      <a:r>
                        <a:rPr sz="1400" b="0">
                          <a:solidFill>
                            <a:srgbClr val="000000"/>
                          </a:solidFill>
                          <a:latin typeface="Calibri"/>
                        </a:rPr>
                        <a:t>Sensor metadata</a:t>
                      </a:r>
                    </a:p>
                  </a:txBody>
                  <a:tcPr/>
                </a:tc>
                <a:tc>
                  <a:txBody>
                    <a:bodyPr/>
                    <a:lstStyle/>
                    <a:p>
                      <a:r>
                        <a:rPr sz="1400" b="0">
                          <a:solidFill>
                            <a:srgbClr val="000000"/>
                          </a:solidFill>
                          <a:latin typeface="Calibri"/>
                        </a:rPr>
                        <a:t>Present (DefinedTerm)</a:t>
                      </a:r>
                    </a:p>
                  </a:txBody>
                  <a:tcPr/>
                </a:tc>
                <a:tc>
                  <a:txBody>
                    <a:bodyPr/>
                    <a:lstStyle/>
                    <a:p>
                      <a:r>
                        <a:rPr sz="1400" b="0">
                          <a:solidFill>
                            <a:srgbClr val="000000"/>
                          </a:solidFill>
                          <a:latin typeface="Calibri"/>
                        </a:rPr>
                        <a:t>Absent</a:t>
                      </a:r>
                    </a:p>
                  </a:txBody>
                  <a:tcPr/>
                </a:tc>
              </a:tr>
              <a:tr h="457200">
                <a:tc>
                  <a:txBody>
                    <a:bodyPr/>
                    <a:lstStyle/>
                    <a:p>
                      <a:r>
                        <a:rPr sz="1400" b="0">
                          <a:solidFill>
                            <a:srgbClr val="000000"/>
                          </a:solidFill>
                          <a:latin typeface="Calibri"/>
                        </a:rPr>
                        <a:t>Assay count</a:t>
                      </a:r>
                    </a:p>
                  </a:txBody>
                  <a:tcPr/>
                </a:tc>
                <a:tc>
                  <a:txBody>
                    <a:bodyPr/>
                    <a:lstStyle/>
                    <a:p>
                      <a:r>
                        <a:rPr sz="1400" b="0">
                          <a:solidFill>
                            <a:srgbClr val="000000"/>
                          </a:solidFill>
                          <a:latin typeface="Calibri"/>
                        </a:rPr>
                        <a:t>1</a:t>
                      </a:r>
                    </a:p>
                  </a:txBody>
                  <a:tcPr/>
                </a:tc>
                <a:tc>
                  <a:txBody>
                    <a:bodyPr/>
                    <a:lstStyle/>
                    <a:p>
                      <a:r>
                        <a:rPr sz="1400" b="0">
                          <a:solidFill>
                            <a:srgbClr val="000000"/>
                          </a:solidFill>
                          <a:latin typeface="Calibri"/>
                        </a:rPr>
                        <a:t>27+</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r>
              <a:rPr sz="2800" b="1">
                <a:solidFill>
                  <a:srgbClr val="1565C0"/>
                </a:solidFill>
                <a:latin typeface="Calibri"/>
              </a:rPr>
              <a:t>Required Modeling Pattern &amp; Standardization Gap</a:t>
            </a:r>
          </a:p>
        </p:txBody>
      </p:sp>
      <p:sp>
        <p:nvSpPr>
          <p:cNvPr id="3" name="TextBox 2"/>
          <p:cNvSpPr txBox="1"/>
          <p:nvPr/>
        </p:nvSpPr>
        <p:spPr>
          <a:xfrm>
            <a:off x="457200" y="1188720"/>
            <a:ext cx="10972800" cy="1097280"/>
          </a:xfrm>
          <a:prstGeom prst="rect">
            <a:avLst/>
          </a:prstGeom>
          <a:noFill/>
        </p:spPr>
        <p:txBody>
          <a:bodyPr wrap="square">
            <a:spAutoFit/>
          </a:bodyPr>
          <a:lstStyle/>
          <a:p>
            <a:r>
              <a:rPr sz="1600" b="0">
                <a:solidFill>
                  <a:srgbClr val="000000"/>
                </a:solidFill>
                <a:latin typeface="Calibri"/>
              </a:rPr>
              <a:t>Goal:</a:t>
            </a:r>
          </a:p>
          <a:p>
            <a:r>
              <a:rPr sz="1600" b="0">
                <a:solidFill>
                  <a:srgbClr val="000000"/>
                </a:solidFill>
                <a:latin typeface="Calibri"/>
              </a:rPr>
              <a:t>  • Define the required path for unambiguous extraction</a:t>
            </a:r>
          </a:p>
          <a:p>
            <a:r>
              <a:rPr sz="1600" b="0">
                <a:solidFill>
                  <a:srgbClr val="000000"/>
                </a:solidFill>
                <a:latin typeface="Calibri"/>
              </a:rPr>
              <a:t>  • Identify what still needs standardization</a:t>
            </a:r>
          </a:p>
        </p:txBody>
      </p:sp>
      <p:pic>
        <p:nvPicPr>
          <p:cNvPr id="4" name="Picture 3" descr="slide5-required.png"/>
          <p:cNvPicPr>
            <a:picLocks noChangeAspect="1"/>
          </p:cNvPicPr>
          <p:nvPr/>
        </p:nvPicPr>
        <p:blipFill>
          <a:blip r:embed="rId2"/>
          <a:stretch>
            <a:fillRect/>
          </a:stretch>
        </p:blipFill>
        <p:spPr>
          <a:xfrm>
            <a:off x="3200400" y="2103120"/>
            <a:ext cx="7315200" cy="10556111"/>
          </a:xfrm>
          <a:prstGeom prst="rect">
            <a:avLst/>
          </a:prstGeom>
        </p:spPr>
      </p:pic>
      <p:sp>
        <p:nvSpPr>
          <p:cNvPr id="5" name="TextBox 4"/>
          <p:cNvSpPr txBox="1"/>
          <p:nvPr/>
        </p:nvSpPr>
        <p:spPr>
          <a:xfrm>
            <a:off x="457200" y="5303520"/>
            <a:ext cx="10972800" cy="457200"/>
          </a:xfrm>
          <a:prstGeom prst="rect">
            <a:avLst/>
          </a:prstGeom>
          <a:noFill/>
        </p:spPr>
        <p:txBody>
          <a:bodyPr wrap="square">
            <a:spAutoFit/>
          </a:bodyPr>
          <a:lstStyle/>
          <a:p>
            <a:pPr algn="l"/>
            <a:r>
              <a:rPr sz="1400" b="0">
                <a:solidFill>
                  <a:srgbClr val="2E7D32"/>
                </a:solidFill>
                <a:latin typeface="Calibri"/>
              </a:rPr>
              <a:t>In bold: required objects/properties to represent Crop</a:t>
            </a:r>
          </a:p>
        </p:txBody>
      </p:sp>
      <p:sp>
        <p:nvSpPr>
          <p:cNvPr id="6" name="TextBox 5"/>
          <p:cNvSpPr txBox="1"/>
          <p:nvPr/>
        </p:nvSpPr>
        <p:spPr>
          <a:xfrm>
            <a:off x="457200" y="5577840"/>
            <a:ext cx="10972800" cy="457200"/>
          </a:xfrm>
          <a:prstGeom prst="rect">
            <a:avLst/>
          </a:prstGeom>
          <a:noFill/>
        </p:spPr>
        <p:txBody>
          <a:bodyPr wrap="square">
            <a:spAutoFit/>
          </a:bodyPr>
          <a:lstStyle/>
          <a:p>
            <a:pPr algn="l"/>
            <a:r>
              <a:rPr sz="1400" b="0">
                <a:solidFill>
                  <a:srgbClr val="616161"/>
                </a:solidFill>
                <a:latin typeface="Calibri"/>
              </a:rPr>
              <a:t>Example ARC RO-Crate: UC13 drone-flyover</a:t>
            </a:r>
          </a:p>
        </p:txBody>
      </p:sp>
      <p:graphicFrame>
        <p:nvGraphicFramePr>
          <p:cNvPr id="7" name="Table 6"/>
          <p:cNvGraphicFramePr>
            <a:graphicFrameLocks noGrp="1"/>
          </p:cNvGraphicFramePr>
          <p:nvPr/>
        </p:nvGraphicFramePr>
        <p:xfrm>
          <a:off x="457200" y="5852160"/>
          <a:ext cx="10972800" cy="822960"/>
        </p:xfrm>
        <a:graphic>
          <a:graphicData uri="http://schemas.openxmlformats.org/drawingml/2006/table">
            <a:tbl>
              <a:tblPr firstRow="1" bandRow="1">
                <a:tableStyleId>{5C22544A-7EE6-4342-B048-85BDC9FD1C3A}</a:tableStyleId>
              </a:tblPr>
              <a:tblGrid>
                <a:gridCol w="5486400"/>
                <a:gridCol w="5486400"/>
              </a:tblGrid>
              <a:tr h="274320">
                <a:tc>
                  <a:txBody>
                    <a:bodyPr/>
                    <a:lstStyle/>
                    <a:p>
                      <a:r>
                        <a:rPr sz="1400" b="1">
                          <a:solidFill>
                            <a:srgbClr val="FFFFFF"/>
                          </a:solidFill>
                          <a:latin typeface="Calibri"/>
                        </a:rPr>
                        <a:t>Question</a:t>
                      </a:r>
                    </a:p>
                  </a:txBody>
                  <a:tcPr>
                    <a:solidFill>
                      <a:srgbClr val="1565C0"/>
                    </a:solidFill>
                  </a:tcPr>
                </a:tc>
                <a:tc>
                  <a:txBody>
                    <a:bodyPr/>
                    <a:lstStyle/>
                    <a:p>
                      <a:r>
                        <a:rPr sz="1400" b="1">
                          <a:solidFill>
                            <a:srgbClr val="FFFFFF"/>
                          </a:solidFill>
                          <a:latin typeface="Calibri"/>
                        </a:rPr>
                        <a:t>Details</a:t>
                      </a:r>
                    </a:p>
                  </a:txBody>
                  <a:tcPr>
                    <a:solidFill>
                      <a:srgbClr val="1565C0"/>
                    </a:solidFill>
                  </a:tcPr>
                </a:tc>
              </a:tr>
              <a:tr h="274320">
                <a:tc>
                  <a:txBody>
                    <a:bodyPr/>
                    <a:lstStyle/>
                    <a:p>
                      <a:r>
                        <a:rPr sz="1400" b="0">
                          <a:solidFill>
                            <a:srgbClr val="000000"/>
                          </a:solidFill>
                          <a:latin typeface="Calibri"/>
                        </a:rPr>
                        <a:t>Structure: ?</a:t>
                      </a:r>
                    </a:p>
                  </a:txBody>
                  <a:tcPr/>
                </a:tc>
                <a:tc>
                  <a:txBody>
                    <a:bodyPr/>
                    <a:lstStyle/>
                    <a:p>
                      <a:r>
                        <a:rPr sz="1400" b="0">
                          <a:solidFill>
                            <a:srgbClr val="000000"/>
                          </a:solidFill>
                          <a:latin typeface="Calibri"/>
                        </a:rPr>
                        <a:t>How to formally specify the required traversal path?</a:t>
                      </a:r>
                    </a:p>
                  </a:txBody>
                  <a:tcPr/>
                </a:tc>
              </a:tr>
              <a:tr h="274320">
                <a:tc>
                  <a:txBody>
                    <a:bodyPr/>
                    <a:lstStyle/>
                    <a:p>
                      <a:r>
                        <a:rPr sz="1400" b="0">
                          <a:solidFill>
                            <a:srgbClr val="000000"/>
                          </a:solidFill>
                          <a:latin typeface="Calibri"/>
                        </a:rPr>
                        <a:t>propertyID: SSSOM mapping</a:t>
                      </a:r>
                    </a:p>
                  </a:txBody>
                  <a:tcPr/>
                </a:tc>
                <a:tc>
                  <a:txBody>
                    <a:bodyPr/>
                    <a:lstStyle/>
                    <a:p>
                      <a:r>
                        <a:rPr sz="1400" b="0">
                          <a:solidFill>
                            <a:srgbClr val="000000"/>
                          </a:solidFill>
                          <a:latin typeface="Calibri"/>
                        </a:rPr>
                        <a:t>How to standardize ontology term mappings?</a:t>
                      </a:r>
                    </a:p>
                  </a:txBody>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