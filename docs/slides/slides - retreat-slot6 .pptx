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2A642EC-8CF4-49A9-9986-8B6D0BCDDF98}">
  <a:tblStyle styleId="{D2A642EC-8CF4-49A9-9986-8B6D0BCDDF98}"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de512eb60_2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Agricultural research data lives across dozens of repositories with different schemas, formats, and conventions. ARCs (Annotated Research Contexts) are the emerging standard for packaging that data, and FAIRagro's Search Hub is where researchers discover it. FAIRweaver's conversion pipeline bridges the gap: take metadata from any source, map it into an ARC, then extract the FAIRagro-specific schema for Search Hub ingestion.</a:t>
            </a:r>
          </a:p>
          <a:p/>
          <a:p>
            <a:r>
              <a:t>The challenge is structural. Every ARC is a JSON-LD graph, and different research groups model the same domain concepts at different depths and in different graph locations. The pipeline must handle that variability — or define conventions to eliminate it.</a:t>
            </a:r>
          </a:p>
        </p:txBody>
      </p:sp>
      <p:sp>
        <p:nvSpPr>
          <p:cNvPr id="127" name="Google Shape;127;g3ede512eb60_2_75:notes"/>
          <p:cNvSpPr/>
          <p:nvPr>
            <p:ph idx="2" type="sldImg"/>
          </p:nvPr>
        </p:nvSpPr>
        <p:spPr>
          <a:xfrm>
            <a:off x="1143164" y="685800"/>
            <a:ext cx="457234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ede512eb60_2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pipeline is strictly sequential. Schema.org JSON-LD from an RDI (Research Data Infrastructure) enters at the top, gets transformed by FAIRagro templates, and produces two outputs in order:</a:t>
            </a:r>
          </a:p>
          <a:p/>
          <a:p>
            <a:r>
              <a:t>1. Output A — ARC RO-Crate. A JSON-LD document that follows the ARC specification.</a:t>
            </a:r>
          </a:p>
          <a:p>
            <a:r>
              <a:t>2. Output B — FAIRagro JSON. Derived from Output A, not produced independently.</a:t>
            </a:r>
          </a:p>
          <a:p/>
          <a:p>
            <a:r>
              <a:t>Output B's dependency on Output A is the key architectural insight. If the ARC is incomplete, the FAIRagro extraction is incomplete too. There is no shortcut.</a:t>
            </a:r>
          </a:p>
          <a:p/>
          <a:p>
            <a:r>
              <a:t>Two paths feed the ARC into Search Hub:</a:t>
            </a:r>
          </a:p>
          <a:p>
            <a:r>
              <a:t>- Path 1 (direct harvest): GitLab DataHub stores the ARC; a harvester reads it and produces FAIRagro JSON.</a:t>
            </a:r>
          </a:p>
          <a:p>
            <a:r>
              <a:t>- Path 2 (orchestrated): The FAIRagro Middleware API coordinates the full workflow, from harvest through conversion to ingestion.</a:t>
            </a:r>
          </a:p>
          <a:p/>
          <a:p>
            <a:r>
              <a:t>Both paths converge on the same FAIRagro schema.json consumed by Search Hub.</a:t>
            </a:r>
          </a:p>
        </p:txBody>
      </p:sp>
      <p:sp>
        <p:nvSpPr>
          <p:cNvPr id="133" name="Google Shape;133;g3ede512eb60_2_81:notes"/>
          <p:cNvSpPr/>
          <p:nvPr>
            <p:ph idx="2" type="sldImg"/>
          </p:nvPr>
        </p:nvSpPr>
        <p:spPr>
          <a:xfrm>
            <a:off x="1143164" y="685800"/>
            <a:ext cx="457234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de512eb60_2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Three test files illustrate the relationship between ARC quality and extraction depth:</a:t>
            </a:r>
          </a:p>
          <a:p/>
          <a:p>
            <a:r>
              <a:t>Synthetic (schema-org-wheat-full.json): A manually crafted input designed to cover every FAIRagro-required field. The resulting ARC is fully compliant; extraction gets everything. This proves the pipeline works when the input follows the rules.</a:t>
            </a:r>
          </a:p>
          <a:p/>
          <a:p>
            <a:r>
              <a:t>Real — Small (arc-ro-crate-dronflyover.json, &lt;10 MB): An actual agronomic ARC from the UC13 drone flyover. It follows the ISA Investigation → Study → Assay hierarchy but uses non-standard property names and missing optional fields. Result: partial extraction. Only fields that map unambiguously to the FAIRagro schema come through.</a:t>
            </a:r>
          </a:p>
          <a:p/>
          <a:p>
            <a:r>
              <a:t>Real — Large (arc-ro-crate-muenchenberg-lte.json, &gt;100 MB): A long-term experiment ARC from Müncheberg with 27+ assays but a flatter structure. Many domain-specific fields don't match any FAIRagro template key. Result: basic harvest only — title, description, identifier, creator.</a:t>
            </a:r>
          </a:p>
          <a:p/>
          <a:p>
            <a:r>
              <a:t>The pattern is clear: compliance determines extraction depth. If an ARC follows the FAIRagro specification, you get full extraction. If not, you get the intersection of what's present and what's mappable. This is not a pipeline limitation — it's a signal that the community needs modeling conventions.</a:t>
            </a:r>
          </a:p>
        </p:txBody>
      </p:sp>
      <p:sp>
        <p:nvSpPr>
          <p:cNvPr id="141" name="Google Shape;141;g3ede512eb60_2_91:notes"/>
          <p:cNvSpPr/>
          <p:nvPr>
            <p:ph idx="2" type="sldImg"/>
          </p:nvPr>
        </p:nvSpPr>
        <p:spPr>
          <a:xfrm>
            <a:off x="1143164" y="685800"/>
            <a:ext cx="457234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ede512eb60_2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real ARCs, one problem: same domain concepts at different graph depths.</a:t>
            </a:r>
          </a:p>
          <a:p/>
          <a:p>
            <a:r>
              <a:t>Drone Flyover (UC13):</a:t>
            </a:r>
          </a:p>
          <a:p>
            <a:r>
              <a:t>Following the ISA hierarchy: Investigation → Study → Assay. Two Agrischemas concepts live at very different traversal depths:</a:t>
            </a:r>
          </a:p>
          <a:p/>
          <a:p>
            <a:r>
              <a:t>- sensorType is 1 hop from Assay via measurementMethod → DefinedTerm.</a:t>
            </a:r>
          </a:p>
          <a:p>
            <a:r>
              <a:t>- cropSpecies is 4 hops from Study via about → LabProcess → object → Sample → additionalProperty → PropertyValue.</a:t>
            </a:r>
          </a:p>
          <a:p/>
          <a:p>
            <a:r>
              <a:t>The sensorType path is short and direct. The cropSpecies path requires traversing five nodes with specific predicates at each step. The parser must know the exact path — any deviation and it loses the concept.</a:t>
            </a:r>
          </a:p>
        </p:txBody>
      </p:sp>
      <p:sp>
        <p:nvSpPr>
          <p:cNvPr id="148" name="Google Shape;148;g3ede512eb60_2_97:notes"/>
          <p:cNvSpPr/>
          <p:nvPr>
            <p:ph idx="2" type="sldImg"/>
          </p:nvPr>
        </p:nvSpPr>
        <p:spPr>
          <a:xfrm>
            <a:off x="1143164" y="685800"/>
            <a:ext cx="457234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de512eb60_2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Müncheberg LTE:</a:t>
            </a:r>
          </a:p>
          <a:p>
            <a:r>
              <a:t>A structurally different ARC. Investigation connects directly to 27+ Assays; a Study entity exists (studies/LTE-V140-Muencheberg/) but is NOT linked via the Investigation's hasPart chain. Crop species surfaces via a shorter alternative path: Source → additionalProperty → CharacteristicValue (2 hops instead of 4). Müncheberg also has the same long LabProcess chain as the drone flyover (via Study.about → LabProcess → object → Source → additionalProperty), so both paths coexist. Sensor metadata is absent because this ARC is about crop phenology, not remote sensing.</a:t>
            </a:r>
          </a:p>
          <a:p/>
          <a:p>
            <a:r>
              <a:t>Comparison table:</a:t>
            </a:r>
          </a:p>
          <a:p>
            <a:r>
              <a:t>- Drone Flyover: Study in hasPart chain, 4-hop crop path, 1 assay, has sensor</a:t>
            </a:r>
          </a:p>
          <a:p>
            <a:r>
              <a:t>- Müncheberg LTE: Study disconnected, 2-hop + 4-hop crop paths, 27+ assays, no sensor</a:t>
            </a:r>
          </a:p>
          <a:p/>
          <a:p>
            <a:r>
              <a:t>A generic parser cannot reliably extract crop species from both ARCs without knowing which structural pattern to apply. This variability is the core motivation for standardization.</a:t>
            </a:r>
          </a:p>
        </p:txBody>
      </p:sp>
      <p:sp>
        <p:nvSpPr>
          <p:cNvPr id="156" name="Google Shape;156;g3ede512eb60_2_104:notes"/>
          <p:cNvSpPr/>
          <p:nvPr>
            <p:ph idx="2" type="sldImg"/>
          </p:nvPr>
        </p:nvSpPr>
        <p:spPr>
          <a:xfrm>
            <a:off x="1143164" y="685800"/>
            <a:ext cx="457234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de512eb60_2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After examining both ARCs, a required traversal path emerges for unambiguous crop extraction:</a:t>
            </a:r>
          </a:p>
          <a:p/>
          <a:p>
            <a:r>
              <a:t>Study → about → LabProcess → object → Sample/additionalType:Material</a:t>
            </a:r>
          </a:p>
          <a:p>
            <a:r>
              <a:t>  → additionalProperty → PropertyValue/propertyID</a:t>
            </a:r>
          </a:p>
          <a:p/>
          <a:p>
            <a:r>
              <a:t>The terminal node — PropertyValue with a propertyID — is critical. name: Organism and value: Solanum tuberosum are human-readable but machine-ambiguous. The propertyID linking to an ontology term (e.g., agrovoc:c_49904) makes it semantically precise and machine-resolvable.</a:t>
            </a:r>
          </a:p>
          <a:p/>
          <a:p>
            <a:r>
              <a:t>Two open questions remain:</a:t>
            </a:r>
          </a:p>
          <a:p/>
          <a:p>
            <a:r>
              <a:t>1. Structure specification. How do we formally specify a required graph traversal path so that tools can validate compliance automatically? A shape expression (ShEx) or SHACL shape? A simple property-path DSL in the pivot registry YAML?</a:t>
            </a:r>
          </a:p>
          <a:p/>
          <a:p>
            <a:r>
              <a:t>2. Ontology mapping standardization. propertyID values need a shared vocabulary of mappings so that every ARC uses the same ontology term for 'crop species.' SSSOM (Simple Standard for Sharing Ontological Mappings) is a candidate — but it needs community adoption.</a:t>
            </a:r>
          </a:p>
          <a:p/>
          <a:p>
            <a:r>
              <a:t>These are not FAIRweaver problems. They are community-level standardization problems that FAIRweaver exposes and quantifies.</a:t>
            </a:r>
          </a:p>
        </p:txBody>
      </p:sp>
      <p:sp>
        <p:nvSpPr>
          <p:cNvPr id="166" name="Google Shape;166;g3ede512eb60_2_116:notes"/>
          <p:cNvSpPr/>
          <p:nvPr>
            <p:ph idx="2" type="sldImg"/>
          </p:nvPr>
        </p:nvSpPr>
        <p:spPr>
          <a:xfrm>
            <a:off x="1143164" y="685800"/>
            <a:ext cx="457234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8" name="Google Shape;58;p14"/>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Google Shape;59;p14"/>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514364" y="1597819"/>
            <a:ext cx="5829455" cy="1102519"/>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2" name="Google Shape;62;p15"/>
          <p:cNvSpPr txBox="1"/>
          <p:nvPr>
            <p:ph idx="1" type="subTitle"/>
          </p:nvPr>
        </p:nvSpPr>
        <p:spPr>
          <a:xfrm>
            <a:off x="1028727" y="2914650"/>
            <a:ext cx="4800728" cy="1314450"/>
          </a:xfrm>
          <a:prstGeom prst="rect">
            <a:avLst/>
          </a:prstGeom>
          <a:noFill/>
          <a:ln>
            <a:noFill/>
          </a:ln>
        </p:spPr>
        <p:txBody>
          <a:bodyPr anchorCtr="0" anchor="t" bIns="34275" lIns="68575" spcFirstLastPara="1" rIns="68575" wrap="square" tIns="34275">
            <a:normAutofit/>
          </a:bodyPr>
          <a:lstStyle>
            <a:lvl1pPr lvl="0" algn="ctr">
              <a:spcBef>
                <a:spcPts val="500"/>
              </a:spcBef>
              <a:spcAft>
                <a:spcPts val="0"/>
              </a:spcAft>
              <a:buClr>
                <a:srgbClr val="888888"/>
              </a:buClr>
              <a:buSzPts val="2400"/>
              <a:buNone/>
              <a:defRPr>
                <a:solidFill>
                  <a:srgbClr val="888888"/>
                </a:solidFill>
              </a:defRPr>
            </a:lvl1pPr>
            <a:lvl2pPr lvl="1" algn="ctr">
              <a:spcBef>
                <a:spcPts val="400"/>
              </a:spcBef>
              <a:spcAft>
                <a:spcPts val="0"/>
              </a:spcAft>
              <a:buClr>
                <a:srgbClr val="888888"/>
              </a:buClr>
              <a:buSzPts val="2100"/>
              <a:buNone/>
              <a:defRPr>
                <a:solidFill>
                  <a:srgbClr val="888888"/>
                </a:solidFill>
              </a:defRPr>
            </a:lvl2pPr>
            <a:lvl3pPr lvl="2" algn="ctr">
              <a:spcBef>
                <a:spcPts val="400"/>
              </a:spcBef>
              <a:spcAft>
                <a:spcPts val="0"/>
              </a:spcAft>
              <a:buClr>
                <a:srgbClr val="888888"/>
              </a:buClr>
              <a:buSzPts val="1800"/>
              <a:buNone/>
              <a:defRPr>
                <a:solidFill>
                  <a:srgbClr val="888888"/>
                </a:solidFill>
              </a:defRPr>
            </a:lvl3pPr>
            <a:lvl4pPr lvl="3" algn="ctr">
              <a:spcBef>
                <a:spcPts val="300"/>
              </a:spcBef>
              <a:spcAft>
                <a:spcPts val="0"/>
              </a:spcAft>
              <a:buClr>
                <a:srgbClr val="888888"/>
              </a:buClr>
              <a:buSzPts val="1500"/>
              <a:buNone/>
              <a:defRPr>
                <a:solidFill>
                  <a:srgbClr val="888888"/>
                </a:solidFill>
              </a:defRPr>
            </a:lvl4pPr>
            <a:lvl5pPr lvl="4" algn="ctr">
              <a:spcBef>
                <a:spcPts val="300"/>
              </a:spcBef>
              <a:spcAft>
                <a:spcPts val="0"/>
              </a:spcAft>
              <a:buClr>
                <a:srgbClr val="888888"/>
              </a:buClr>
              <a:buSzPts val="1500"/>
              <a:buNone/>
              <a:defRPr>
                <a:solidFill>
                  <a:srgbClr val="888888"/>
                </a:solidFill>
              </a:defRPr>
            </a:lvl5pPr>
            <a:lvl6pPr lvl="5" algn="ctr">
              <a:spcBef>
                <a:spcPts val="300"/>
              </a:spcBef>
              <a:spcAft>
                <a:spcPts val="0"/>
              </a:spcAft>
              <a:buClr>
                <a:srgbClr val="888888"/>
              </a:buClr>
              <a:buSzPts val="1500"/>
              <a:buNone/>
              <a:defRPr>
                <a:solidFill>
                  <a:srgbClr val="888888"/>
                </a:solidFill>
              </a:defRPr>
            </a:lvl6pPr>
            <a:lvl7pPr lvl="6" algn="ctr">
              <a:spcBef>
                <a:spcPts val="300"/>
              </a:spcBef>
              <a:spcAft>
                <a:spcPts val="0"/>
              </a:spcAft>
              <a:buClr>
                <a:srgbClr val="888888"/>
              </a:buClr>
              <a:buSzPts val="1500"/>
              <a:buNone/>
              <a:defRPr>
                <a:solidFill>
                  <a:srgbClr val="888888"/>
                </a:solidFill>
              </a:defRPr>
            </a:lvl7pPr>
            <a:lvl8pPr lvl="7" algn="ctr">
              <a:spcBef>
                <a:spcPts val="300"/>
              </a:spcBef>
              <a:spcAft>
                <a:spcPts val="0"/>
              </a:spcAft>
              <a:buClr>
                <a:srgbClr val="888888"/>
              </a:buClr>
              <a:buSzPts val="1500"/>
              <a:buNone/>
              <a:defRPr>
                <a:solidFill>
                  <a:srgbClr val="888888"/>
                </a:solidFill>
              </a:defRPr>
            </a:lvl8pPr>
            <a:lvl9pPr lvl="8" algn="ctr">
              <a:spcBef>
                <a:spcPts val="300"/>
              </a:spcBef>
              <a:spcAft>
                <a:spcPts val="0"/>
              </a:spcAft>
              <a:buClr>
                <a:srgbClr val="888888"/>
              </a:buClr>
              <a:buSzPts val="1500"/>
              <a:buNone/>
              <a:defRPr>
                <a:solidFill>
                  <a:srgbClr val="888888"/>
                </a:solidFill>
              </a:defRPr>
            </a:lvl9pPr>
          </a:lstStyle>
          <a:p/>
        </p:txBody>
      </p:sp>
      <p:sp>
        <p:nvSpPr>
          <p:cNvPr id="63" name="Google Shape;63;p15"/>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4" name="Google Shape;64;p15"/>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5" name="Google Shape;65;p15"/>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8" name="Google Shape;68;p16"/>
          <p:cNvSpPr txBox="1"/>
          <p:nvPr>
            <p:ph idx="1" type="body"/>
          </p:nvPr>
        </p:nvSpPr>
        <p:spPr>
          <a:xfrm>
            <a:off x="342909" y="1200150"/>
            <a:ext cx="6172365" cy="3394472"/>
          </a:xfrm>
          <a:prstGeom prst="rect">
            <a:avLst/>
          </a:prstGeom>
          <a:noFill/>
          <a:ln>
            <a:noFill/>
          </a:ln>
        </p:spPr>
        <p:txBody>
          <a:bodyPr anchorCtr="0" anchor="t" bIns="34275" lIns="68575" spcFirstLastPara="1" rIns="68575" wrap="square" tIns="34275">
            <a:norm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69" name="Google Shape;69;p16"/>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0" name="Google Shape;70;p16"/>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1" name="Google Shape;71;p16"/>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541749" y="3305175"/>
            <a:ext cx="5829455" cy="1021556"/>
          </a:xfrm>
          <a:prstGeom prst="rect">
            <a:avLst/>
          </a:prstGeom>
          <a:noFill/>
          <a:ln>
            <a:noFill/>
          </a:ln>
        </p:spPr>
        <p:txBody>
          <a:bodyPr anchorCtr="0" anchor="t" bIns="34275" lIns="68575" spcFirstLastPara="1" rIns="68575" wrap="square" tIns="34275">
            <a:normAutofit/>
          </a:bodyPr>
          <a:lstStyle>
            <a:lvl1pPr lvl="0" algn="l">
              <a:spcBef>
                <a:spcPts val="0"/>
              </a:spcBef>
              <a:spcAft>
                <a:spcPts val="0"/>
              </a:spcAft>
              <a:buClr>
                <a:schemeClr val="dk1"/>
              </a:buClr>
              <a:buSzPts val="3000"/>
              <a:buFont typeface="Calibri"/>
              <a:buNone/>
              <a:defRPr b="1" sz="3000" cap="none"/>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4" name="Google Shape;74;p17"/>
          <p:cNvSpPr txBox="1"/>
          <p:nvPr>
            <p:ph idx="1" type="body"/>
          </p:nvPr>
        </p:nvSpPr>
        <p:spPr>
          <a:xfrm>
            <a:off x="541749" y="2180035"/>
            <a:ext cx="5829455" cy="1125140"/>
          </a:xfrm>
          <a:prstGeom prst="rect">
            <a:avLst/>
          </a:prstGeom>
          <a:noFill/>
          <a:ln>
            <a:noFill/>
          </a:ln>
        </p:spPr>
        <p:txBody>
          <a:bodyPr anchorCtr="0" anchor="b" bIns="34275" lIns="68575" spcFirstLastPara="1" rIns="68575" wrap="square" tIns="34275">
            <a:normAutofit/>
          </a:bodyPr>
          <a:lstStyle>
            <a:lvl1pPr indent="-228600" lvl="0" marL="457200" algn="l">
              <a:spcBef>
                <a:spcPts val="300"/>
              </a:spcBef>
              <a:spcAft>
                <a:spcPts val="0"/>
              </a:spcAft>
              <a:buClr>
                <a:srgbClr val="888888"/>
              </a:buClr>
              <a:buSzPts val="1500"/>
              <a:buNone/>
              <a:defRPr sz="1500">
                <a:solidFill>
                  <a:srgbClr val="888888"/>
                </a:solidFill>
              </a:defRPr>
            </a:lvl1pPr>
            <a:lvl2pPr indent="-228600" lvl="1" marL="914400" algn="l">
              <a:spcBef>
                <a:spcPts val="300"/>
              </a:spcBef>
              <a:spcAft>
                <a:spcPts val="0"/>
              </a:spcAft>
              <a:buClr>
                <a:srgbClr val="888888"/>
              </a:buClr>
              <a:buSzPts val="1400"/>
              <a:buNone/>
              <a:defRPr sz="1400">
                <a:solidFill>
                  <a:srgbClr val="888888"/>
                </a:solidFill>
              </a:defRPr>
            </a:lvl2pPr>
            <a:lvl3pPr indent="-228600" lvl="2" marL="1371600" algn="l">
              <a:spcBef>
                <a:spcPts val="200"/>
              </a:spcBef>
              <a:spcAft>
                <a:spcPts val="0"/>
              </a:spcAft>
              <a:buClr>
                <a:srgbClr val="888888"/>
              </a:buClr>
              <a:buSzPts val="1200"/>
              <a:buNone/>
              <a:defRPr sz="1200">
                <a:solidFill>
                  <a:srgbClr val="888888"/>
                </a:solidFill>
              </a:defRPr>
            </a:lvl3pPr>
            <a:lvl4pPr indent="-228600" lvl="3" marL="1828800" algn="l">
              <a:spcBef>
                <a:spcPts val="200"/>
              </a:spcBef>
              <a:spcAft>
                <a:spcPts val="0"/>
              </a:spcAft>
              <a:buClr>
                <a:srgbClr val="888888"/>
              </a:buClr>
              <a:buSzPts val="1100"/>
              <a:buNone/>
              <a:defRPr sz="1100">
                <a:solidFill>
                  <a:srgbClr val="888888"/>
                </a:solidFill>
              </a:defRPr>
            </a:lvl4pPr>
            <a:lvl5pPr indent="-228600" lvl="4" marL="2286000" algn="l">
              <a:spcBef>
                <a:spcPts val="200"/>
              </a:spcBef>
              <a:spcAft>
                <a:spcPts val="0"/>
              </a:spcAft>
              <a:buClr>
                <a:srgbClr val="888888"/>
              </a:buClr>
              <a:buSzPts val="1100"/>
              <a:buNone/>
              <a:defRPr sz="1100">
                <a:solidFill>
                  <a:srgbClr val="888888"/>
                </a:solidFill>
              </a:defRPr>
            </a:lvl5pPr>
            <a:lvl6pPr indent="-228600" lvl="5" marL="2743200" algn="l">
              <a:spcBef>
                <a:spcPts val="200"/>
              </a:spcBef>
              <a:spcAft>
                <a:spcPts val="0"/>
              </a:spcAft>
              <a:buClr>
                <a:srgbClr val="888888"/>
              </a:buClr>
              <a:buSzPts val="1100"/>
              <a:buNone/>
              <a:defRPr sz="1100">
                <a:solidFill>
                  <a:srgbClr val="888888"/>
                </a:solidFill>
              </a:defRPr>
            </a:lvl6pPr>
            <a:lvl7pPr indent="-228600" lvl="6" marL="3200400" algn="l">
              <a:spcBef>
                <a:spcPts val="200"/>
              </a:spcBef>
              <a:spcAft>
                <a:spcPts val="0"/>
              </a:spcAft>
              <a:buClr>
                <a:srgbClr val="888888"/>
              </a:buClr>
              <a:buSzPts val="1100"/>
              <a:buNone/>
              <a:defRPr sz="1100">
                <a:solidFill>
                  <a:srgbClr val="888888"/>
                </a:solidFill>
              </a:defRPr>
            </a:lvl7pPr>
            <a:lvl8pPr indent="-228600" lvl="7" marL="3657600" algn="l">
              <a:spcBef>
                <a:spcPts val="200"/>
              </a:spcBef>
              <a:spcAft>
                <a:spcPts val="0"/>
              </a:spcAft>
              <a:buClr>
                <a:srgbClr val="888888"/>
              </a:buClr>
              <a:buSzPts val="1100"/>
              <a:buNone/>
              <a:defRPr sz="1100">
                <a:solidFill>
                  <a:srgbClr val="888888"/>
                </a:solidFill>
              </a:defRPr>
            </a:lvl8pPr>
            <a:lvl9pPr indent="-228600" lvl="8" marL="4114800" algn="l">
              <a:spcBef>
                <a:spcPts val="200"/>
              </a:spcBef>
              <a:spcAft>
                <a:spcPts val="0"/>
              </a:spcAft>
              <a:buClr>
                <a:srgbClr val="888888"/>
              </a:buClr>
              <a:buSzPts val="1100"/>
              <a:buNone/>
              <a:defRPr sz="1100">
                <a:solidFill>
                  <a:srgbClr val="888888"/>
                </a:solidFill>
              </a:defRPr>
            </a:lvl9pPr>
          </a:lstStyle>
          <a:p/>
        </p:txBody>
      </p:sp>
      <p:sp>
        <p:nvSpPr>
          <p:cNvPr id="75" name="Google Shape;75;p17"/>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6" name="Google Shape;76;p17"/>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7" name="Google Shape;77;p17"/>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0" name="Google Shape;80;p18"/>
          <p:cNvSpPr txBox="1"/>
          <p:nvPr>
            <p:ph idx="1" type="body"/>
          </p:nvPr>
        </p:nvSpPr>
        <p:spPr>
          <a:xfrm>
            <a:off x="342909" y="1200150"/>
            <a:ext cx="3029031" cy="3394472"/>
          </a:xfrm>
          <a:prstGeom prst="rect">
            <a:avLst/>
          </a:prstGeom>
          <a:noFill/>
          <a:ln>
            <a:noFill/>
          </a:ln>
        </p:spPr>
        <p:txBody>
          <a:bodyPr anchorCtr="0" anchor="t" bIns="34275" lIns="68575" spcFirstLastPara="1" rIns="68575" wrap="square" tIns="34275">
            <a:norm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81" name="Google Shape;81;p18"/>
          <p:cNvSpPr txBox="1"/>
          <p:nvPr>
            <p:ph idx="2" type="body"/>
          </p:nvPr>
        </p:nvSpPr>
        <p:spPr>
          <a:xfrm>
            <a:off x="3486243" y="1200150"/>
            <a:ext cx="3029031" cy="3394472"/>
          </a:xfrm>
          <a:prstGeom prst="rect">
            <a:avLst/>
          </a:prstGeom>
          <a:noFill/>
          <a:ln>
            <a:noFill/>
          </a:ln>
        </p:spPr>
        <p:txBody>
          <a:bodyPr anchorCtr="0" anchor="t" bIns="34275" lIns="68575" spcFirstLastPara="1" rIns="68575" wrap="square" tIns="34275">
            <a:norm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82" name="Google Shape;82;p18"/>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3" name="Google Shape;83;p18"/>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4" name="Google Shape;84;p18"/>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3300"/>
              <a:buFont typeface="Calibri"/>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7" name="Google Shape;87;p19"/>
          <p:cNvSpPr txBox="1"/>
          <p:nvPr>
            <p:ph idx="1" type="body"/>
          </p:nvPr>
        </p:nvSpPr>
        <p:spPr>
          <a:xfrm>
            <a:off x="342909" y="1151335"/>
            <a:ext cx="3030222" cy="479822"/>
          </a:xfrm>
          <a:prstGeom prst="rect">
            <a:avLst/>
          </a:prstGeom>
          <a:noFill/>
          <a:ln>
            <a:noFill/>
          </a:ln>
        </p:spPr>
        <p:txBody>
          <a:bodyPr anchorCtr="0" anchor="b" bIns="34275" lIns="68575" spcFirstLastPara="1" rIns="68575" wrap="square" tIns="34275">
            <a:norm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88" name="Google Shape;88;p19"/>
          <p:cNvSpPr txBox="1"/>
          <p:nvPr>
            <p:ph idx="2" type="body"/>
          </p:nvPr>
        </p:nvSpPr>
        <p:spPr>
          <a:xfrm>
            <a:off x="342909" y="1631156"/>
            <a:ext cx="3030222" cy="2963466"/>
          </a:xfrm>
          <a:prstGeom prst="rect">
            <a:avLst/>
          </a:prstGeom>
          <a:noFill/>
          <a:ln>
            <a:noFill/>
          </a:ln>
        </p:spPr>
        <p:txBody>
          <a:bodyPr anchorCtr="0" anchor="t" bIns="34275" lIns="68575" spcFirstLastPara="1" rIns="68575" wrap="square" tIns="34275">
            <a:norm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89" name="Google Shape;89;p19"/>
          <p:cNvSpPr txBox="1"/>
          <p:nvPr>
            <p:ph idx="3" type="body"/>
          </p:nvPr>
        </p:nvSpPr>
        <p:spPr>
          <a:xfrm>
            <a:off x="3483862" y="1151335"/>
            <a:ext cx="3031412" cy="479822"/>
          </a:xfrm>
          <a:prstGeom prst="rect">
            <a:avLst/>
          </a:prstGeom>
          <a:noFill/>
          <a:ln>
            <a:noFill/>
          </a:ln>
        </p:spPr>
        <p:txBody>
          <a:bodyPr anchorCtr="0" anchor="b" bIns="34275" lIns="68575" spcFirstLastPara="1" rIns="68575" wrap="square" tIns="34275">
            <a:norm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90" name="Google Shape;90;p19"/>
          <p:cNvSpPr txBox="1"/>
          <p:nvPr>
            <p:ph idx="4" type="body"/>
          </p:nvPr>
        </p:nvSpPr>
        <p:spPr>
          <a:xfrm>
            <a:off x="3483862" y="1631156"/>
            <a:ext cx="3031412" cy="2963466"/>
          </a:xfrm>
          <a:prstGeom prst="rect">
            <a:avLst/>
          </a:prstGeom>
          <a:noFill/>
          <a:ln>
            <a:noFill/>
          </a:ln>
        </p:spPr>
        <p:txBody>
          <a:bodyPr anchorCtr="0" anchor="t" bIns="34275" lIns="68575" spcFirstLastPara="1" rIns="68575" wrap="square" tIns="34275">
            <a:norm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91" name="Google Shape;91;p19"/>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2" name="Google Shape;92;p19"/>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3" name="Google Shape;93;p19"/>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96" name="Google Shape;96;p20"/>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7" name="Google Shape;97;p20"/>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20"/>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342909" y="204788"/>
            <a:ext cx="2256295" cy="871538"/>
          </a:xfrm>
          <a:prstGeom prst="rect">
            <a:avLst/>
          </a:prstGeom>
          <a:noFill/>
          <a:ln>
            <a:noFill/>
          </a:ln>
        </p:spPr>
        <p:txBody>
          <a:bodyPr anchorCtr="0" anchor="b" bIns="34275" lIns="68575" spcFirstLastPara="1" rIns="68575" wrap="square" tIns="34275">
            <a:normAutofit/>
          </a:bodyPr>
          <a:lstStyle>
            <a:lvl1pPr lvl="0" algn="l">
              <a:spcBef>
                <a:spcPts val="0"/>
              </a:spcBef>
              <a:spcAft>
                <a:spcPts val="0"/>
              </a:spcAft>
              <a:buClr>
                <a:schemeClr val="dk1"/>
              </a:buClr>
              <a:buSzPts val="1500"/>
              <a:buFont typeface="Calibri"/>
              <a:buNone/>
              <a:defRPr b="1" sz="1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1" name="Google Shape;101;p21"/>
          <p:cNvSpPr txBox="1"/>
          <p:nvPr>
            <p:ph idx="1" type="body"/>
          </p:nvPr>
        </p:nvSpPr>
        <p:spPr>
          <a:xfrm>
            <a:off x="2681359" y="204788"/>
            <a:ext cx="3833915" cy="4389835"/>
          </a:xfrm>
          <a:prstGeom prst="rect">
            <a:avLst/>
          </a:prstGeom>
          <a:noFill/>
          <a:ln>
            <a:noFill/>
          </a:ln>
        </p:spPr>
        <p:txBody>
          <a:bodyPr anchorCtr="0" anchor="t" bIns="34275" lIns="68575" spcFirstLastPara="1" rIns="68575" wrap="square" tIns="34275">
            <a:normAutofit/>
          </a:bodyPr>
          <a:lstStyle>
            <a:lvl1pPr indent="-381000" lvl="0" marL="457200" algn="l">
              <a:spcBef>
                <a:spcPts val="500"/>
              </a:spcBef>
              <a:spcAft>
                <a:spcPts val="0"/>
              </a:spcAft>
              <a:buClr>
                <a:schemeClr val="dk1"/>
              </a:buClr>
              <a:buSzPts val="2400"/>
              <a:buChar char="•"/>
              <a:defRPr sz="2400"/>
            </a:lvl1pPr>
            <a:lvl2pPr indent="-361950" lvl="1" marL="914400" algn="l">
              <a:spcBef>
                <a:spcPts val="400"/>
              </a:spcBef>
              <a:spcAft>
                <a:spcPts val="0"/>
              </a:spcAft>
              <a:buClr>
                <a:schemeClr val="dk1"/>
              </a:buClr>
              <a:buSzPts val="2100"/>
              <a:buChar char="–"/>
              <a:defRPr sz="2100"/>
            </a:lvl2pPr>
            <a:lvl3pPr indent="-342900" lvl="2" marL="1371600" algn="l">
              <a:spcBef>
                <a:spcPts val="400"/>
              </a:spcBef>
              <a:spcAft>
                <a:spcPts val="0"/>
              </a:spcAft>
              <a:buClr>
                <a:schemeClr val="dk1"/>
              </a:buClr>
              <a:buSzPts val="1800"/>
              <a:buChar char="•"/>
              <a:defRPr sz="1800"/>
            </a:lvl3pPr>
            <a:lvl4pPr indent="-323850" lvl="3" marL="1828800" algn="l">
              <a:spcBef>
                <a:spcPts val="300"/>
              </a:spcBef>
              <a:spcAft>
                <a:spcPts val="0"/>
              </a:spcAft>
              <a:buClr>
                <a:schemeClr val="dk1"/>
              </a:buClr>
              <a:buSzPts val="1500"/>
              <a:buChar char="–"/>
              <a:defRPr sz="1500"/>
            </a:lvl4pPr>
            <a:lvl5pPr indent="-323850" lvl="4" marL="2286000" algn="l">
              <a:spcBef>
                <a:spcPts val="300"/>
              </a:spcBef>
              <a:spcAft>
                <a:spcPts val="0"/>
              </a:spcAft>
              <a:buClr>
                <a:schemeClr val="dk1"/>
              </a:buClr>
              <a:buSzPts val="1500"/>
              <a:buChar char="»"/>
              <a:defRPr sz="1500"/>
            </a:lvl5pPr>
            <a:lvl6pPr indent="-323850" lvl="5" marL="2743200" algn="l">
              <a:spcBef>
                <a:spcPts val="300"/>
              </a:spcBef>
              <a:spcAft>
                <a:spcPts val="0"/>
              </a:spcAft>
              <a:buClr>
                <a:schemeClr val="dk1"/>
              </a:buClr>
              <a:buSzPts val="1500"/>
              <a:buChar char="•"/>
              <a:defRPr sz="1500"/>
            </a:lvl6pPr>
            <a:lvl7pPr indent="-323850" lvl="6" marL="3200400" algn="l">
              <a:spcBef>
                <a:spcPts val="300"/>
              </a:spcBef>
              <a:spcAft>
                <a:spcPts val="0"/>
              </a:spcAft>
              <a:buClr>
                <a:schemeClr val="dk1"/>
              </a:buClr>
              <a:buSzPts val="1500"/>
              <a:buChar char="•"/>
              <a:defRPr sz="1500"/>
            </a:lvl7pPr>
            <a:lvl8pPr indent="-323850" lvl="7" marL="3657600" algn="l">
              <a:spcBef>
                <a:spcPts val="300"/>
              </a:spcBef>
              <a:spcAft>
                <a:spcPts val="0"/>
              </a:spcAft>
              <a:buClr>
                <a:schemeClr val="dk1"/>
              </a:buClr>
              <a:buSzPts val="1500"/>
              <a:buChar char="•"/>
              <a:defRPr sz="1500"/>
            </a:lvl8pPr>
            <a:lvl9pPr indent="-323850" lvl="8" marL="4114800" algn="l">
              <a:spcBef>
                <a:spcPts val="300"/>
              </a:spcBef>
              <a:spcAft>
                <a:spcPts val="0"/>
              </a:spcAft>
              <a:buClr>
                <a:schemeClr val="dk1"/>
              </a:buClr>
              <a:buSzPts val="1500"/>
              <a:buChar char="•"/>
              <a:defRPr sz="1500"/>
            </a:lvl9pPr>
          </a:lstStyle>
          <a:p/>
        </p:txBody>
      </p:sp>
      <p:sp>
        <p:nvSpPr>
          <p:cNvPr id="102" name="Google Shape;102;p21"/>
          <p:cNvSpPr txBox="1"/>
          <p:nvPr>
            <p:ph idx="2" type="body"/>
          </p:nvPr>
        </p:nvSpPr>
        <p:spPr>
          <a:xfrm>
            <a:off x="342909" y="1076325"/>
            <a:ext cx="2256295" cy="3518297"/>
          </a:xfrm>
          <a:prstGeom prst="rect">
            <a:avLst/>
          </a:prstGeom>
          <a:noFill/>
          <a:ln>
            <a:noFill/>
          </a:ln>
        </p:spPr>
        <p:txBody>
          <a:bodyPr anchorCtr="0" anchor="t" bIns="34275" lIns="68575" spcFirstLastPara="1" rIns="68575" wrap="square" tIns="34275">
            <a:norm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03" name="Google Shape;103;p21"/>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4" name="Google Shape;104;p21"/>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5" name="Google Shape;105;p21"/>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344252" y="3600450"/>
            <a:ext cx="4114910" cy="425054"/>
          </a:xfrm>
          <a:prstGeom prst="rect">
            <a:avLst/>
          </a:prstGeom>
          <a:noFill/>
          <a:ln>
            <a:noFill/>
          </a:ln>
        </p:spPr>
        <p:txBody>
          <a:bodyPr anchorCtr="0" anchor="b" bIns="34275" lIns="68575" spcFirstLastPara="1" rIns="68575" wrap="square" tIns="34275">
            <a:normAutofit/>
          </a:bodyPr>
          <a:lstStyle>
            <a:lvl1pPr lvl="0" algn="l">
              <a:spcBef>
                <a:spcPts val="0"/>
              </a:spcBef>
              <a:spcAft>
                <a:spcPts val="0"/>
              </a:spcAft>
              <a:buClr>
                <a:schemeClr val="dk1"/>
              </a:buClr>
              <a:buSzPts val="1500"/>
              <a:buFont typeface="Calibri"/>
              <a:buNone/>
              <a:defRPr b="1" sz="1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8" name="Google Shape;108;p22"/>
          <p:cNvSpPr/>
          <p:nvPr>
            <p:ph idx="2" type="pic"/>
          </p:nvPr>
        </p:nvSpPr>
        <p:spPr>
          <a:xfrm>
            <a:off x="1344252" y="459581"/>
            <a:ext cx="4114910" cy="3086100"/>
          </a:xfrm>
          <a:prstGeom prst="rect">
            <a:avLst/>
          </a:prstGeom>
          <a:noFill/>
          <a:ln>
            <a:noFill/>
          </a:ln>
        </p:spPr>
      </p:sp>
      <p:sp>
        <p:nvSpPr>
          <p:cNvPr id="109" name="Google Shape;109;p22"/>
          <p:cNvSpPr txBox="1"/>
          <p:nvPr>
            <p:ph idx="1" type="body"/>
          </p:nvPr>
        </p:nvSpPr>
        <p:spPr>
          <a:xfrm>
            <a:off x="1344252" y="4025503"/>
            <a:ext cx="4114910" cy="603647"/>
          </a:xfrm>
          <a:prstGeom prst="rect">
            <a:avLst/>
          </a:prstGeom>
          <a:noFill/>
          <a:ln>
            <a:noFill/>
          </a:ln>
        </p:spPr>
        <p:txBody>
          <a:bodyPr anchorCtr="0" anchor="t" bIns="34275" lIns="68575" spcFirstLastPara="1" rIns="68575" wrap="square" tIns="34275">
            <a:norm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10" name="Google Shape;110;p22"/>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1" name="Google Shape;111;p22"/>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2" name="Google Shape;112;p22"/>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15" name="Google Shape;115;p23"/>
          <p:cNvSpPr txBox="1"/>
          <p:nvPr>
            <p:ph idx="1" type="body"/>
          </p:nvPr>
        </p:nvSpPr>
        <p:spPr>
          <a:xfrm rot="5400000">
            <a:off x="1731855" y="-188796"/>
            <a:ext cx="3394472" cy="6172365"/>
          </a:xfrm>
          <a:prstGeom prst="rect">
            <a:avLst/>
          </a:prstGeom>
          <a:noFill/>
          <a:ln>
            <a:noFill/>
          </a:ln>
        </p:spPr>
        <p:txBody>
          <a:bodyPr anchorCtr="0" anchor="t" bIns="34275" lIns="68575" spcFirstLastPara="1" rIns="68575" wrap="square" tIns="34275">
            <a:norm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16" name="Google Shape;116;p23"/>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7" name="Google Shape;117;p23"/>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8" name="Google Shape;118;p23"/>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3549406" y="1628755"/>
            <a:ext cx="4388644" cy="1543091"/>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21" name="Google Shape;121;p24"/>
          <p:cNvSpPr txBox="1"/>
          <p:nvPr>
            <p:ph idx="1" type="body"/>
          </p:nvPr>
        </p:nvSpPr>
        <p:spPr>
          <a:xfrm rot="5400000">
            <a:off x="406072" y="142815"/>
            <a:ext cx="4388644" cy="4514970"/>
          </a:xfrm>
          <a:prstGeom prst="rect">
            <a:avLst/>
          </a:prstGeom>
          <a:noFill/>
          <a:ln>
            <a:noFill/>
          </a:ln>
        </p:spPr>
        <p:txBody>
          <a:bodyPr anchorCtr="0" anchor="t" bIns="34275" lIns="68575" spcFirstLastPara="1" rIns="68575" wrap="square" tIns="34275">
            <a:norm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22" name="Google Shape;122;p24"/>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3" name="Google Shape;123;p24"/>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4" name="Google Shape;124;p24"/>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marR="0" rtl="0" algn="ctr">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52" name="Google Shape;52;p13"/>
          <p:cNvSpPr txBox="1"/>
          <p:nvPr>
            <p:ph idx="1" type="body"/>
          </p:nvPr>
        </p:nvSpPr>
        <p:spPr>
          <a:xfrm>
            <a:off x="342909" y="1200150"/>
            <a:ext cx="6172365" cy="3394472"/>
          </a:xfrm>
          <a:prstGeom prst="rect">
            <a:avLst/>
          </a:prstGeom>
          <a:noFill/>
          <a:ln>
            <a:noFill/>
          </a:ln>
        </p:spPr>
        <p:txBody>
          <a:bodyPr anchorCtr="0" anchor="t" bIns="34275" lIns="68575" spcFirstLastPara="1" rIns="68575" wrap="square" tIns="34275">
            <a:normAutofit/>
          </a:bodyPr>
          <a:lstStyle>
            <a:lvl1pPr indent="-381000" lvl="0" marL="457200" marR="0" rtl="0" algn="l">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1pPr>
            <a:lvl2pPr indent="-361950" lvl="1" marL="914400" marR="0" rtl="0" algn="l">
              <a:spcBef>
                <a:spcPts val="4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2pPr>
            <a:lvl3pPr indent="-342900" lvl="2" marL="1371600" marR="0" rtl="0" algn="l">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3pPr>
            <a:lvl4pPr indent="-323850" lvl="3" marL="18288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4pPr>
            <a:lvl5pPr indent="-323850" lvl="4" marL="22860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rgbClr val="888888"/>
                </a:solidFill>
                <a:latin typeface="Calibri"/>
                <a:ea typeface="Calibri"/>
                <a:cs typeface="Calibri"/>
                <a:sym typeface="Calibri"/>
              </a:defRPr>
            </a:lvl1pPr>
            <a:lvl2pPr indent="0" lvl="1" marL="0" marR="0" rtl="0" algn="r">
              <a:spcBef>
                <a:spcPts val="0"/>
              </a:spcBef>
              <a:buNone/>
              <a:defRPr b="0" i="0" sz="900" u="none" cap="none" strike="noStrike">
                <a:solidFill>
                  <a:srgbClr val="888888"/>
                </a:solidFill>
                <a:latin typeface="Calibri"/>
                <a:ea typeface="Calibri"/>
                <a:cs typeface="Calibri"/>
                <a:sym typeface="Calibri"/>
              </a:defRPr>
            </a:lvl2pPr>
            <a:lvl3pPr indent="0" lvl="2" marL="0" marR="0" rtl="0" algn="r">
              <a:spcBef>
                <a:spcPts val="0"/>
              </a:spcBef>
              <a:buNone/>
              <a:defRPr b="0" i="0" sz="900" u="none" cap="none" strike="noStrike">
                <a:solidFill>
                  <a:srgbClr val="888888"/>
                </a:solidFill>
                <a:latin typeface="Calibri"/>
                <a:ea typeface="Calibri"/>
                <a:cs typeface="Calibri"/>
                <a:sym typeface="Calibri"/>
              </a:defRPr>
            </a:lvl3pPr>
            <a:lvl4pPr indent="0" lvl="3" marL="0" marR="0" rtl="0" algn="r">
              <a:spcBef>
                <a:spcPts val="0"/>
              </a:spcBef>
              <a:buNone/>
              <a:defRPr b="0" i="0" sz="900" u="none" cap="none" strike="noStrike">
                <a:solidFill>
                  <a:srgbClr val="888888"/>
                </a:solidFill>
                <a:latin typeface="Calibri"/>
                <a:ea typeface="Calibri"/>
                <a:cs typeface="Calibri"/>
                <a:sym typeface="Calibri"/>
              </a:defRPr>
            </a:lvl4pPr>
            <a:lvl5pPr indent="0" lvl="4" marL="0" marR="0" rtl="0" algn="r">
              <a:spcBef>
                <a:spcPts val="0"/>
              </a:spcBef>
              <a:buNone/>
              <a:defRPr b="0" i="0" sz="900" u="none" cap="none" strike="noStrike">
                <a:solidFill>
                  <a:srgbClr val="888888"/>
                </a:solidFill>
                <a:latin typeface="Calibri"/>
                <a:ea typeface="Calibri"/>
                <a:cs typeface="Calibri"/>
                <a:sym typeface="Calibri"/>
              </a:defRPr>
            </a:lvl5pPr>
            <a:lvl6pPr indent="0" lvl="5" marL="0" marR="0" rtl="0" algn="r">
              <a:spcBef>
                <a:spcPts val="0"/>
              </a:spcBef>
              <a:buNone/>
              <a:defRPr b="0" i="0" sz="900" u="none" cap="none" strike="noStrike">
                <a:solidFill>
                  <a:srgbClr val="888888"/>
                </a:solidFill>
                <a:latin typeface="Calibri"/>
                <a:ea typeface="Calibri"/>
                <a:cs typeface="Calibri"/>
                <a:sym typeface="Calibri"/>
              </a:defRPr>
            </a:lvl6pPr>
            <a:lvl7pPr indent="0" lvl="6" marL="0" marR="0" rtl="0" algn="r">
              <a:spcBef>
                <a:spcPts val="0"/>
              </a:spcBef>
              <a:buNone/>
              <a:defRPr b="0" i="0" sz="900" u="none" cap="none" strike="noStrike">
                <a:solidFill>
                  <a:srgbClr val="888888"/>
                </a:solidFill>
                <a:latin typeface="Calibri"/>
                <a:ea typeface="Calibri"/>
                <a:cs typeface="Calibri"/>
                <a:sym typeface="Calibri"/>
              </a:defRPr>
            </a:lvl7pPr>
            <a:lvl8pPr indent="0" lvl="7" marL="0" marR="0" rtl="0" algn="r">
              <a:spcBef>
                <a:spcPts val="0"/>
              </a:spcBef>
              <a:buNone/>
              <a:defRPr b="0" i="0" sz="900" u="none" cap="none" strike="noStrike">
                <a:solidFill>
                  <a:srgbClr val="888888"/>
                </a:solidFill>
                <a:latin typeface="Calibri"/>
                <a:ea typeface="Calibri"/>
                <a:cs typeface="Calibri"/>
                <a:sym typeface="Calibri"/>
              </a:defRPr>
            </a:lvl8pPr>
            <a:lvl9pPr indent="0" lvl="8" marL="0" marR="0" rtl="0" algn="r">
              <a:spcBef>
                <a:spcPts val="0"/>
              </a:spcBef>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5"/>
          <p:cNvSpPr txBox="1"/>
          <p:nvPr/>
        </p:nvSpPr>
        <p:spPr>
          <a:xfrm>
            <a:off x="342909" y="1714500"/>
            <a:ext cx="8229900" cy="4848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i="0" lang="es" sz="2700" u="none" cap="none" strike="noStrike">
                <a:solidFill>
                  <a:srgbClr val="1565C0"/>
                </a:solidFill>
                <a:latin typeface="Calibri"/>
                <a:ea typeface="Calibri"/>
                <a:cs typeface="Calibri"/>
                <a:sym typeface="Calibri"/>
              </a:rPr>
              <a:t>Schema.org → ARC → FAIRagro Workflow</a:t>
            </a:r>
            <a:endParaRPr sz="1100"/>
          </a:p>
        </p:txBody>
      </p:sp>
      <p:sp>
        <p:nvSpPr>
          <p:cNvPr id="130" name="Google Shape;130;p25"/>
          <p:cNvSpPr txBox="1"/>
          <p:nvPr/>
        </p:nvSpPr>
        <p:spPr>
          <a:xfrm>
            <a:off x="342909" y="2743200"/>
            <a:ext cx="8229819" cy="54864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lang="es" sz="1500">
                <a:solidFill>
                  <a:srgbClr val="616161"/>
                </a:solidFill>
                <a:latin typeface="Calibri"/>
                <a:ea typeface="Calibri"/>
                <a:cs typeface="Calibri"/>
                <a:sym typeface="Calibri"/>
              </a:rPr>
              <a:t>TA3/4 Retreat 2026</a:t>
            </a:r>
            <a:endParaRPr sz="11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6"/>
          <p:cNvSpPr txBox="1"/>
          <p:nvPr/>
        </p:nvSpPr>
        <p:spPr>
          <a:xfrm>
            <a:off x="342909" y="205740"/>
            <a:ext cx="8229900" cy="3924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s" sz="2100">
                <a:solidFill>
                  <a:srgbClr val="1565C0"/>
                </a:solidFill>
                <a:latin typeface="Calibri"/>
                <a:ea typeface="Calibri"/>
                <a:cs typeface="Calibri"/>
                <a:sym typeface="Calibri"/>
              </a:rPr>
              <a:t>FAIRagro Metadata Transformation Pipeline</a:t>
            </a:r>
            <a:endParaRPr sz="1100"/>
          </a:p>
        </p:txBody>
      </p:sp>
      <p:pic>
        <p:nvPicPr>
          <p:cNvPr descr="slide1-pipeline.png" id="136" name="Google Shape;136;p26"/>
          <p:cNvPicPr preferRelativeResize="0"/>
          <p:nvPr/>
        </p:nvPicPr>
        <p:blipFill rotWithShape="1">
          <a:blip r:embed="rId3">
            <a:alphaModFix/>
          </a:blip>
          <a:srcRect b="0" l="0" r="0" t="0"/>
          <a:stretch/>
        </p:blipFill>
        <p:spPr>
          <a:xfrm>
            <a:off x="342909" y="1028700"/>
            <a:ext cx="8229600" cy="1410987"/>
          </a:xfrm>
          <a:prstGeom prst="rect">
            <a:avLst/>
          </a:prstGeom>
          <a:noFill/>
          <a:ln>
            <a:noFill/>
          </a:ln>
        </p:spPr>
      </p:pic>
      <p:sp>
        <p:nvSpPr>
          <p:cNvPr id="137" name="Google Shape;137;p26"/>
          <p:cNvSpPr txBox="1"/>
          <p:nvPr/>
        </p:nvSpPr>
        <p:spPr>
          <a:xfrm>
            <a:off x="378900" y="3074000"/>
            <a:ext cx="7375500" cy="9927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lang="es" sz="1200">
                <a:solidFill>
                  <a:srgbClr val="000000"/>
                </a:solidFill>
                <a:latin typeface="Calibri"/>
                <a:ea typeface="Calibri"/>
                <a:cs typeface="Calibri"/>
                <a:sym typeface="Calibri"/>
              </a:rPr>
              <a:t>Sequential dependency: Output B (FAIRagro JSON) is derived from Output A (ARC RO-Crate) — not a parallel output</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Two harvest paths converge on the same FAIRagro JSON schema:</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  • Path 1 (solid): Direct harvest from GitLab DataHub where ARCs are stored</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  • Path 2 (dashed): Via FAIRagro Middleware API (federated service)</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Both paths produce identical FAIRagro schema.json ingested into SearchHub</a:t>
            </a:r>
            <a:endParaRPr sz="1100"/>
          </a:p>
        </p:txBody>
      </p:sp>
      <p:sp>
        <p:nvSpPr>
          <p:cNvPr id="138" name="Google Shape;138;p26"/>
          <p:cNvSpPr txBox="1"/>
          <p:nvPr/>
        </p:nvSpPr>
        <p:spPr>
          <a:xfrm>
            <a:off x="342907" y="2681600"/>
            <a:ext cx="1500300" cy="3309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s" sz="1700">
                <a:solidFill>
                  <a:srgbClr val="1565C0"/>
                </a:solidFill>
                <a:latin typeface="Calibri"/>
                <a:ea typeface="Calibri"/>
                <a:cs typeface="Calibri"/>
                <a:sym typeface="Calibri"/>
              </a:rPr>
              <a:t>Key Points</a:t>
            </a:r>
            <a:endParaRPr sz="7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7"/>
          <p:cNvSpPr txBox="1"/>
          <p:nvPr/>
        </p:nvSpPr>
        <p:spPr>
          <a:xfrm>
            <a:off x="342909" y="205740"/>
            <a:ext cx="8229900" cy="3924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s" sz="2100">
                <a:solidFill>
                  <a:srgbClr val="1565C0"/>
                </a:solidFill>
                <a:latin typeface="Calibri"/>
                <a:ea typeface="Calibri"/>
                <a:cs typeface="Calibri"/>
                <a:sym typeface="Calibri"/>
              </a:rPr>
              <a:t>Three File Scenarios: Input → ARC → FAIRagro Output</a:t>
            </a:r>
            <a:endParaRPr sz="1100"/>
          </a:p>
        </p:txBody>
      </p:sp>
      <p:graphicFrame>
        <p:nvGraphicFramePr>
          <p:cNvPr id="144" name="Google Shape;144;p27"/>
          <p:cNvGraphicFramePr/>
          <p:nvPr/>
        </p:nvGraphicFramePr>
        <p:xfrm>
          <a:off x="342909" y="1028700"/>
          <a:ext cx="3000000" cy="3000000"/>
        </p:xfrm>
        <a:graphic>
          <a:graphicData uri="http://schemas.openxmlformats.org/drawingml/2006/table">
            <a:tbl>
              <a:tblPr bandRow="1" firstRow="1">
                <a:noFill/>
                <a:tableStyleId>{D2A642EC-8CF4-49A9-9986-8B6D0BCDDF98}</a:tableStyleId>
              </a:tblPr>
              <a:tblGrid>
                <a:gridCol w="2057450"/>
                <a:gridCol w="2057450"/>
                <a:gridCol w="2057450"/>
                <a:gridCol w="2057450"/>
              </a:tblGrid>
              <a:tr h="428625">
                <a:tc>
                  <a:txBody>
                    <a:bodyPr/>
                    <a:lstStyle/>
                    <a:p>
                      <a:pPr indent="0" lvl="0" marL="0" marR="0" rtl="0" algn="l">
                        <a:spcBef>
                          <a:spcPts val="0"/>
                        </a:spcBef>
                        <a:spcAft>
                          <a:spcPts val="0"/>
                        </a:spcAft>
                        <a:buNone/>
                      </a:pPr>
                      <a:r>
                        <a:rPr b="1" lang="es" sz="1100" u="none" cap="none" strike="noStrike">
                          <a:solidFill>
                            <a:srgbClr val="FFFFFF"/>
                          </a:solidFill>
                          <a:latin typeface="Calibri"/>
                          <a:ea typeface="Calibri"/>
                          <a:cs typeface="Calibri"/>
                          <a:sym typeface="Calibri"/>
                        </a:rPr>
                        <a:t>Case</a:t>
                      </a:r>
                      <a:endParaRPr sz="1100"/>
                    </a:p>
                  </a:txBody>
                  <a:tcPr marT="34300" marB="34300" marR="68600" marL="68600">
                    <a:solidFill>
                      <a:srgbClr val="1565C0"/>
                    </a:solidFill>
                  </a:tcPr>
                </a:tc>
                <a:tc>
                  <a:txBody>
                    <a:bodyPr/>
                    <a:lstStyle/>
                    <a:p>
                      <a:pPr indent="0" lvl="0" marL="0" marR="0" rtl="0" algn="l">
                        <a:spcBef>
                          <a:spcPts val="0"/>
                        </a:spcBef>
                        <a:spcAft>
                          <a:spcPts val="0"/>
                        </a:spcAft>
                        <a:buNone/>
                      </a:pPr>
                      <a:r>
                        <a:rPr b="1" lang="es" sz="1100">
                          <a:solidFill>
                            <a:srgbClr val="FFFFFF"/>
                          </a:solidFill>
                          <a:latin typeface="Calibri"/>
                          <a:ea typeface="Calibri"/>
                          <a:cs typeface="Calibri"/>
                          <a:sym typeface="Calibri"/>
                        </a:rPr>
                        <a:t>Input File</a:t>
                      </a:r>
                      <a:endParaRPr sz="1100"/>
                    </a:p>
                  </a:txBody>
                  <a:tcPr marT="34300" marB="34300" marR="68600" marL="68600">
                    <a:solidFill>
                      <a:srgbClr val="1565C0"/>
                    </a:solidFill>
                  </a:tcPr>
                </a:tc>
                <a:tc>
                  <a:txBody>
                    <a:bodyPr/>
                    <a:lstStyle/>
                    <a:p>
                      <a:pPr indent="0" lvl="0" marL="0" marR="0" rtl="0" algn="l">
                        <a:spcBef>
                          <a:spcPts val="0"/>
                        </a:spcBef>
                        <a:spcAft>
                          <a:spcPts val="0"/>
                        </a:spcAft>
                        <a:buNone/>
                      </a:pPr>
                      <a:r>
                        <a:rPr b="1" lang="es" sz="1100">
                          <a:solidFill>
                            <a:srgbClr val="FFFFFF"/>
                          </a:solidFill>
                          <a:latin typeface="Calibri"/>
                          <a:ea typeface="Calibri"/>
                          <a:cs typeface="Calibri"/>
                          <a:sym typeface="Calibri"/>
                        </a:rPr>
                        <a:t>ARC Output</a:t>
                      </a:r>
                      <a:endParaRPr sz="1100"/>
                    </a:p>
                  </a:txBody>
                  <a:tcPr marT="34300" marB="34300" marR="68600" marL="68600">
                    <a:solidFill>
                      <a:srgbClr val="1565C0"/>
                    </a:solidFill>
                  </a:tcPr>
                </a:tc>
                <a:tc>
                  <a:txBody>
                    <a:bodyPr/>
                    <a:lstStyle/>
                    <a:p>
                      <a:pPr indent="0" lvl="0" marL="0" marR="0" rtl="0" algn="l">
                        <a:spcBef>
                          <a:spcPts val="0"/>
                        </a:spcBef>
                        <a:spcAft>
                          <a:spcPts val="0"/>
                        </a:spcAft>
                        <a:buNone/>
                      </a:pPr>
                      <a:r>
                        <a:rPr b="1" lang="es" sz="1100">
                          <a:solidFill>
                            <a:srgbClr val="FFFFFF"/>
                          </a:solidFill>
                          <a:latin typeface="Calibri"/>
                          <a:ea typeface="Calibri"/>
                          <a:cs typeface="Calibri"/>
                          <a:sym typeface="Calibri"/>
                        </a:rPr>
                        <a:t>FAIRagro Output</a:t>
                      </a:r>
                      <a:endParaRPr sz="1100"/>
                    </a:p>
                  </a:txBody>
                  <a:tcPr marT="34300" marB="34300" marR="68600" marL="68600">
                    <a:solidFill>
                      <a:srgbClr val="1565C0"/>
                    </a:solidFill>
                  </a:tcPr>
                </a:tc>
              </a:tr>
              <a:tr h="428625">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Synthetic</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schema-org-wheat-full.json</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arc-ro-crate-wheat-full ✓ compliant</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Full extraction ✓</a:t>
                      </a:r>
                      <a:endParaRPr sz="1100"/>
                    </a:p>
                  </a:txBody>
                  <a:tcPr marT="34300" marB="34300" marR="68600" marL="68600"/>
                </a:tc>
              </a:tr>
              <a:tr h="428625">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Real — Small</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arc-ro-crate-dronflyover.json (&lt;10 MB)</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Manual, partial ⚠</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Partial — mappable fields only</a:t>
                      </a:r>
                      <a:endParaRPr sz="1100"/>
                    </a:p>
                  </a:txBody>
                  <a:tcPr marT="34300" marB="34300" marR="68600" marL="68600"/>
                </a:tc>
              </a:tr>
              <a:tr h="428625">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Real — Large</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arc-ro-crate-muenchenberg-lte.json (&gt;100 MB)</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Manual, partial ⚠</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Basic harvest only</a:t>
                      </a:r>
                      <a:endParaRPr sz="1100"/>
                    </a:p>
                  </a:txBody>
                  <a:tcPr marT="34300" marB="34300" marR="68600" marL="68600"/>
                </a:tc>
              </a:tr>
            </a:tbl>
          </a:graphicData>
        </a:graphic>
      </p:graphicFrame>
      <p:sp>
        <p:nvSpPr>
          <p:cNvPr id="145" name="Google Shape;145;p27"/>
          <p:cNvSpPr txBox="1"/>
          <p:nvPr/>
        </p:nvSpPr>
        <p:spPr>
          <a:xfrm>
            <a:off x="342909" y="3429000"/>
            <a:ext cx="8229819" cy="54864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s" sz="1400">
                <a:solidFill>
                  <a:srgbClr val="2E7D32"/>
                </a:solidFill>
                <a:latin typeface="Calibri"/>
                <a:ea typeface="Calibri"/>
                <a:cs typeface="Calibri"/>
                <a:sym typeface="Calibri"/>
              </a:rPr>
              <a:t>💡 If an ARC follows the FAIRagro specification → full metadata extraction. If not → only basic information is harvested.</a:t>
            </a:r>
            <a:endParaRPr sz="11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8"/>
          <p:cNvSpPr txBox="1"/>
          <p:nvPr/>
        </p:nvSpPr>
        <p:spPr>
          <a:xfrm>
            <a:off x="342909" y="205740"/>
            <a:ext cx="8229900" cy="3924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s" sz="2100">
                <a:solidFill>
                  <a:srgbClr val="1565C0"/>
                </a:solidFill>
                <a:latin typeface="Calibri"/>
                <a:ea typeface="Calibri"/>
                <a:cs typeface="Calibri"/>
                <a:sym typeface="Calibri"/>
              </a:rPr>
              <a:t>Examining ARC Structure: Domain Objects at Different Depths</a:t>
            </a:r>
            <a:endParaRPr sz="1100"/>
          </a:p>
        </p:txBody>
      </p:sp>
      <p:sp>
        <p:nvSpPr>
          <p:cNvPr id="151" name="Google Shape;151;p28"/>
          <p:cNvSpPr txBox="1"/>
          <p:nvPr/>
        </p:nvSpPr>
        <p:spPr>
          <a:xfrm>
            <a:off x="342900" y="1597150"/>
            <a:ext cx="4502700" cy="8082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lang="es" sz="1200">
                <a:solidFill>
                  <a:srgbClr val="000000"/>
                </a:solidFill>
                <a:latin typeface="Calibri"/>
                <a:ea typeface="Calibri"/>
                <a:cs typeface="Calibri"/>
                <a:sym typeface="Calibri"/>
              </a:rPr>
              <a:t>Goal:</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 Understand how Agrischemas concepts map into ARC RO-Crate</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 Show that equivalent domain concepts require very different traversal depths</a:t>
            </a:r>
            <a:endParaRPr sz="1100"/>
          </a:p>
        </p:txBody>
      </p:sp>
      <p:pic>
        <p:nvPicPr>
          <p:cNvPr descr="slide3-drone.png" id="152" name="Google Shape;152;p28"/>
          <p:cNvPicPr preferRelativeResize="0"/>
          <p:nvPr/>
        </p:nvPicPr>
        <p:blipFill rotWithShape="1">
          <a:blip r:embed="rId3">
            <a:alphaModFix/>
          </a:blip>
          <a:srcRect b="0" l="0" r="0" t="0"/>
          <a:stretch/>
        </p:blipFill>
        <p:spPr>
          <a:xfrm>
            <a:off x="5421600" y="625150"/>
            <a:ext cx="2901600" cy="4426675"/>
          </a:xfrm>
          <a:prstGeom prst="rect">
            <a:avLst/>
          </a:prstGeom>
          <a:noFill/>
          <a:ln>
            <a:noFill/>
          </a:ln>
        </p:spPr>
      </p:pic>
      <p:sp>
        <p:nvSpPr>
          <p:cNvPr id="153" name="Google Shape;153;p28"/>
          <p:cNvSpPr txBox="1"/>
          <p:nvPr/>
        </p:nvSpPr>
        <p:spPr>
          <a:xfrm>
            <a:off x="342909" y="4663440"/>
            <a:ext cx="8229900" cy="3429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lang="es" sz="1100">
                <a:solidFill>
                  <a:srgbClr val="616161"/>
                </a:solidFill>
                <a:latin typeface="Calibri"/>
                <a:ea typeface="Calibri"/>
                <a:cs typeface="Calibri"/>
                <a:sym typeface="Calibri"/>
              </a:rPr>
              <a:t>Example ARC RO-Crate: UC13 drone-flyover</a:t>
            </a:r>
            <a:endParaRPr sz="11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9"/>
          <p:cNvSpPr txBox="1"/>
          <p:nvPr/>
        </p:nvSpPr>
        <p:spPr>
          <a:xfrm>
            <a:off x="342909" y="205740"/>
            <a:ext cx="8229900" cy="3924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s" sz="2100">
                <a:solidFill>
                  <a:srgbClr val="1565C0"/>
                </a:solidFill>
                <a:latin typeface="Calibri"/>
                <a:ea typeface="Calibri"/>
                <a:cs typeface="Calibri"/>
                <a:sym typeface="Calibri"/>
              </a:rPr>
              <a:t>Müncheberg ARC: A Different Structural Pattern</a:t>
            </a:r>
            <a:endParaRPr sz="1100"/>
          </a:p>
        </p:txBody>
      </p:sp>
      <p:sp>
        <p:nvSpPr>
          <p:cNvPr id="159" name="Google Shape;159;p29"/>
          <p:cNvSpPr txBox="1"/>
          <p:nvPr/>
        </p:nvSpPr>
        <p:spPr>
          <a:xfrm>
            <a:off x="342900" y="891550"/>
            <a:ext cx="3955500" cy="8082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lang="es" sz="1200">
                <a:solidFill>
                  <a:srgbClr val="000000"/>
                </a:solidFill>
                <a:latin typeface="Calibri"/>
                <a:ea typeface="Calibri"/>
                <a:cs typeface="Calibri"/>
                <a:sym typeface="Calibri"/>
              </a:rPr>
              <a:t>Goal:</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 Show another real ARC with a different structural pattern</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 Reinforce that parser must handle multiple modeling conventions</a:t>
            </a:r>
            <a:endParaRPr sz="1100"/>
          </a:p>
        </p:txBody>
      </p:sp>
      <p:pic>
        <p:nvPicPr>
          <p:cNvPr descr="slide4-muenchenberg.png" id="160" name="Google Shape;160;p29"/>
          <p:cNvPicPr preferRelativeResize="0"/>
          <p:nvPr/>
        </p:nvPicPr>
        <p:blipFill rotWithShape="1">
          <a:blip r:embed="rId3">
            <a:alphaModFix/>
          </a:blip>
          <a:srcRect b="0" l="0" r="0" t="0"/>
          <a:stretch/>
        </p:blipFill>
        <p:spPr>
          <a:xfrm>
            <a:off x="4255201" y="653050"/>
            <a:ext cx="4776324" cy="1734650"/>
          </a:xfrm>
          <a:prstGeom prst="rect">
            <a:avLst/>
          </a:prstGeom>
          <a:noFill/>
          <a:ln>
            <a:noFill/>
          </a:ln>
        </p:spPr>
      </p:pic>
      <p:sp>
        <p:nvSpPr>
          <p:cNvPr id="161" name="Google Shape;161;p29"/>
          <p:cNvSpPr txBox="1"/>
          <p:nvPr/>
        </p:nvSpPr>
        <p:spPr>
          <a:xfrm>
            <a:off x="342909" y="4663440"/>
            <a:ext cx="8229819" cy="3429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lang="es" sz="1100">
                <a:solidFill>
                  <a:srgbClr val="616161"/>
                </a:solidFill>
                <a:latin typeface="Calibri"/>
                <a:ea typeface="Calibri"/>
                <a:cs typeface="Calibri"/>
                <a:sym typeface="Calibri"/>
              </a:rPr>
              <a:t>Example ARC RO-Crate: Müncheberg LTE</a:t>
            </a:r>
            <a:endParaRPr sz="1100"/>
          </a:p>
        </p:txBody>
      </p:sp>
      <p:sp>
        <p:nvSpPr>
          <p:cNvPr id="162" name="Google Shape;162;p29"/>
          <p:cNvSpPr txBox="1"/>
          <p:nvPr/>
        </p:nvSpPr>
        <p:spPr>
          <a:xfrm>
            <a:off x="342901" y="2371350"/>
            <a:ext cx="3775500" cy="3000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s" sz="1500">
                <a:solidFill>
                  <a:srgbClr val="1565C0"/>
                </a:solidFill>
                <a:latin typeface="Calibri"/>
                <a:ea typeface="Calibri"/>
                <a:cs typeface="Calibri"/>
                <a:sym typeface="Calibri"/>
              </a:rPr>
              <a:t>Comparison: Drone Flyover vs Müncheberg</a:t>
            </a:r>
            <a:endParaRPr sz="500"/>
          </a:p>
        </p:txBody>
      </p:sp>
      <p:graphicFrame>
        <p:nvGraphicFramePr>
          <p:cNvPr id="163" name="Google Shape;163;p29"/>
          <p:cNvGraphicFramePr/>
          <p:nvPr/>
        </p:nvGraphicFramePr>
        <p:xfrm>
          <a:off x="429309" y="2748200"/>
          <a:ext cx="3000000" cy="3000000"/>
        </p:xfrm>
        <a:graphic>
          <a:graphicData uri="http://schemas.openxmlformats.org/drawingml/2006/table">
            <a:tbl>
              <a:tblPr bandRow="1" firstRow="1">
                <a:noFill/>
                <a:tableStyleId>{D2A642EC-8CF4-49A9-9986-8B6D0BCDDF98}</a:tableStyleId>
              </a:tblPr>
              <a:tblGrid>
                <a:gridCol w="2810450"/>
                <a:gridCol w="2810450"/>
                <a:gridCol w="2810450"/>
              </a:tblGrid>
              <a:tr h="266075">
                <a:tc>
                  <a:txBody>
                    <a:bodyPr/>
                    <a:lstStyle/>
                    <a:p>
                      <a:pPr indent="0" lvl="0" marL="0" marR="0" rtl="0" algn="l">
                        <a:spcBef>
                          <a:spcPts val="0"/>
                        </a:spcBef>
                        <a:spcAft>
                          <a:spcPts val="0"/>
                        </a:spcAft>
                        <a:buNone/>
                      </a:pPr>
                      <a:r>
                        <a:rPr b="1" lang="es" sz="1100">
                          <a:solidFill>
                            <a:srgbClr val="FFFFFF"/>
                          </a:solidFill>
                          <a:latin typeface="Calibri"/>
                          <a:ea typeface="Calibri"/>
                          <a:cs typeface="Calibri"/>
                          <a:sym typeface="Calibri"/>
                        </a:rPr>
                        <a:t>Aspect</a:t>
                      </a:r>
                      <a:endParaRPr sz="1100"/>
                    </a:p>
                  </a:txBody>
                  <a:tcPr marT="34300" marB="34300" marR="68600" marL="68600">
                    <a:solidFill>
                      <a:srgbClr val="1565C0"/>
                    </a:solidFill>
                  </a:tcPr>
                </a:tc>
                <a:tc>
                  <a:txBody>
                    <a:bodyPr/>
                    <a:lstStyle/>
                    <a:p>
                      <a:pPr indent="0" lvl="0" marL="0" marR="0" rtl="0" algn="l">
                        <a:spcBef>
                          <a:spcPts val="0"/>
                        </a:spcBef>
                        <a:spcAft>
                          <a:spcPts val="0"/>
                        </a:spcAft>
                        <a:buNone/>
                      </a:pPr>
                      <a:r>
                        <a:rPr b="1" lang="es" sz="1100">
                          <a:solidFill>
                            <a:srgbClr val="FFFFFF"/>
                          </a:solidFill>
                          <a:latin typeface="Calibri"/>
                          <a:ea typeface="Calibri"/>
                          <a:cs typeface="Calibri"/>
                          <a:sym typeface="Calibri"/>
                        </a:rPr>
                        <a:t>Drone Flyover</a:t>
                      </a:r>
                      <a:endParaRPr sz="1100"/>
                    </a:p>
                  </a:txBody>
                  <a:tcPr marT="34300" marB="34300" marR="68600" marL="68600">
                    <a:solidFill>
                      <a:srgbClr val="1565C0"/>
                    </a:solidFill>
                  </a:tcPr>
                </a:tc>
                <a:tc>
                  <a:txBody>
                    <a:bodyPr/>
                    <a:lstStyle/>
                    <a:p>
                      <a:pPr indent="0" lvl="0" marL="0" marR="0" rtl="0" algn="l">
                        <a:spcBef>
                          <a:spcPts val="0"/>
                        </a:spcBef>
                        <a:spcAft>
                          <a:spcPts val="0"/>
                        </a:spcAft>
                        <a:buNone/>
                      </a:pPr>
                      <a:r>
                        <a:rPr b="1" lang="es" sz="1100">
                          <a:solidFill>
                            <a:srgbClr val="FFFFFF"/>
                          </a:solidFill>
                          <a:latin typeface="Calibri"/>
                          <a:ea typeface="Calibri"/>
                          <a:cs typeface="Calibri"/>
                          <a:sym typeface="Calibri"/>
                        </a:rPr>
                        <a:t>Müncheberg LTE</a:t>
                      </a:r>
                      <a:endParaRPr sz="1100"/>
                    </a:p>
                  </a:txBody>
                  <a:tcPr marT="34300" marB="34300" marR="68600" marL="68600">
                    <a:solidFill>
                      <a:srgbClr val="1565C0"/>
                    </a:solidFill>
                  </a:tcPr>
                </a:tc>
              </a:tr>
              <a:tr h="266075">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Study entity</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Explicit, in hasPart chain</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Present but disconnected (not in hasPart)</a:t>
                      </a:r>
                      <a:endParaRPr sz="1100"/>
                    </a:p>
                  </a:txBody>
                  <a:tcPr marT="34300" marB="34300" marR="68600" marL="68600"/>
                </a:tc>
              </a:tr>
              <a:tr h="268625">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Crop species path (short)</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Study → LabProcess → Sample → PropertyValue (4 hops)</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Source → additionalProperty → CharacteristicValue (2 hops)</a:t>
                      </a:r>
                      <a:endParaRPr sz="1100"/>
                    </a:p>
                  </a:txBody>
                  <a:tcPr marT="34300" marB="34300" marR="68600" marL="68600"/>
                </a:tc>
              </a:tr>
              <a:tr h="268625">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Crop species path (long)</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Same as short (only path)</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ALSO via LabProcess → object → Source → additionalProperty</a:t>
                      </a:r>
                      <a:endParaRPr sz="1100"/>
                    </a:p>
                  </a:txBody>
                  <a:tcPr marT="34300" marB="34300" marR="68600" marL="68600"/>
                </a:tc>
              </a:tr>
              <a:tr h="266075">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Sensor metadata</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Present (DefinedTerm)</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Absent</a:t>
                      </a:r>
                      <a:endParaRPr sz="1100"/>
                    </a:p>
                  </a:txBody>
                  <a:tcPr marT="34300" marB="34300" marR="68600" marL="68600"/>
                </a:tc>
              </a:tr>
              <a:tr h="266075">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Assay count</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1</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27+</a:t>
                      </a:r>
                      <a:endParaRPr sz="1100"/>
                    </a:p>
                  </a:txBody>
                  <a:tcPr marT="34300" marB="34300" marR="68600" marL="68600"/>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30"/>
          <p:cNvSpPr txBox="1"/>
          <p:nvPr/>
        </p:nvSpPr>
        <p:spPr>
          <a:xfrm>
            <a:off x="342909" y="205740"/>
            <a:ext cx="8229900" cy="3924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s" sz="2100">
                <a:solidFill>
                  <a:srgbClr val="1565C0"/>
                </a:solidFill>
                <a:latin typeface="Calibri"/>
                <a:ea typeface="Calibri"/>
                <a:cs typeface="Calibri"/>
                <a:sym typeface="Calibri"/>
              </a:rPr>
              <a:t>Required Modeling Pattern &amp; Standardization Gap</a:t>
            </a:r>
            <a:endParaRPr sz="1100"/>
          </a:p>
        </p:txBody>
      </p:sp>
      <p:sp>
        <p:nvSpPr>
          <p:cNvPr id="169" name="Google Shape;169;p30"/>
          <p:cNvSpPr txBox="1"/>
          <p:nvPr/>
        </p:nvSpPr>
        <p:spPr>
          <a:xfrm>
            <a:off x="342909" y="891540"/>
            <a:ext cx="8229819" cy="10287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lang="es" sz="1200">
                <a:solidFill>
                  <a:srgbClr val="000000"/>
                </a:solidFill>
                <a:latin typeface="Calibri"/>
                <a:ea typeface="Calibri"/>
                <a:cs typeface="Calibri"/>
                <a:sym typeface="Calibri"/>
              </a:rPr>
              <a:t>Goal:</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 Define the required path for unambiguous extraction</a:t>
            </a:r>
            <a:endParaRPr sz="1100"/>
          </a:p>
          <a:p>
            <a:pPr indent="0" lvl="0" marL="0" marR="0" rtl="0" algn="l">
              <a:spcBef>
                <a:spcPts val="0"/>
              </a:spcBef>
              <a:spcAft>
                <a:spcPts val="0"/>
              </a:spcAft>
              <a:buNone/>
            </a:pPr>
            <a:r>
              <a:rPr b="0" lang="es" sz="1200">
                <a:solidFill>
                  <a:srgbClr val="000000"/>
                </a:solidFill>
                <a:latin typeface="Calibri"/>
                <a:ea typeface="Calibri"/>
                <a:cs typeface="Calibri"/>
                <a:sym typeface="Calibri"/>
              </a:rPr>
              <a:t>• Identify what still needs standardization</a:t>
            </a:r>
            <a:endParaRPr sz="1100"/>
          </a:p>
        </p:txBody>
      </p:sp>
      <p:pic>
        <p:nvPicPr>
          <p:cNvPr descr="slide5-required.png" id="170" name="Google Shape;170;p30"/>
          <p:cNvPicPr preferRelativeResize="0"/>
          <p:nvPr/>
        </p:nvPicPr>
        <p:blipFill rotWithShape="1">
          <a:blip r:embed="rId3">
            <a:alphaModFix/>
          </a:blip>
          <a:srcRect b="0" l="0" r="0" t="0"/>
          <a:stretch/>
        </p:blipFill>
        <p:spPr>
          <a:xfrm>
            <a:off x="5780625" y="618925"/>
            <a:ext cx="3063700" cy="4421076"/>
          </a:xfrm>
          <a:prstGeom prst="rect">
            <a:avLst/>
          </a:prstGeom>
          <a:noFill/>
          <a:ln>
            <a:noFill/>
          </a:ln>
        </p:spPr>
      </p:pic>
      <p:sp>
        <p:nvSpPr>
          <p:cNvPr id="171" name="Google Shape;171;p30"/>
          <p:cNvSpPr txBox="1"/>
          <p:nvPr/>
        </p:nvSpPr>
        <p:spPr>
          <a:xfrm>
            <a:off x="422105" y="1548900"/>
            <a:ext cx="3401100" cy="2385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lang="es" sz="1100">
                <a:solidFill>
                  <a:srgbClr val="2E7D32"/>
                </a:solidFill>
                <a:latin typeface="Calibri"/>
                <a:ea typeface="Calibri"/>
                <a:cs typeface="Calibri"/>
                <a:sym typeface="Calibri"/>
              </a:rPr>
              <a:t>In bold: required objects/properties to represent Crop</a:t>
            </a:r>
            <a:endParaRPr sz="1100"/>
          </a:p>
        </p:txBody>
      </p:sp>
      <p:sp>
        <p:nvSpPr>
          <p:cNvPr id="172" name="Google Shape;172;p30"/>
          <p:cNvSpPr txBox="1"/>
          <p:nvPr/>
        </p:nvSpPr>
        <p:spPr>
          <a:xfrm>
            <a:off x="422105" y="1754650"/>
            <a:ext cx="3775500" cy="2385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lang="es" sz="1100">
                <a:solidFill>
                  <a:srgbClr val="616161"/>
                </a:solidFill>
                <a:latin typeface="Calibri"/>
                <a:ea typeface="Calibri"/>
                <a:cs typeface="Calibri"/>
                <a:sym typeface="Calibri"/>
              </a:rPr>
              <a:t>Example ARC RO-Crate: UC13 drone-flyover</a:t>
            </a:r>
            <a:endParaRPr sz="1100"/>
          </a:p>
        </p:txBody>
      </p:sp>
      <p:sp>
        <p:nvSpPr>
          <p:cNvPr id="173" name="Google Shape;173;p30"/>
          <p:cNvSpPr txBox="1"/>
          <p:nvPr/>
        </p:nvSpPr>
        <p:spPr>
          <a:xfrm>
            <a:off x="270899" y="2738150"/>
            <a:ext cx="2083500" cy="3156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s" sz="1600">
                <a:solidFill>
                  <a:srgbClr val="1565C0"/>
                </a:solidFill>
                <a:latin typeface="Calibri"/>
                <a:ea typeface="Calibri"/>
                <a:cs typeface="Calibri"/>
                <a:sym typeface="Calibri"/>
              </a:rPr>
              <a:t>Open Questions</a:t>
            </a:r>
            <a:endParaRPr sz="1600"/>
          </a:p>
        </p:txBody>
      </p:sp>
      <p:graphicFrame>
        <p:nvGraphicFramePr>
          <p:cNvPr id="174" name="Google Shape;174;p30"/>
          <p:cNvGraphicFramePr/>
          <p:nvPr/>
        </p:nvGraphicFramePr>
        <p:xfrm>
          <a:off x="270909" y="3201100"/>
          <a:ext cx="3000000" cy="3000000"/>
        </p:xfrm>
        <a:graphic>
          <a:graphicData uri="http://schemas.openxmlformats.org/drawingml/2006/table">
            <a:tbl>
              <a:tblPr bandRow="1" firstRow="1">
                <a:noFill/>
                <a:tableStyleId>{D2A642EC-8CF4-49A9-9986-8B6D0BCDDF98}</a:tableStyleId>
              </a:tblPr>
              <a:tblGrid>
                <a:gridCol w="2628100"/>
                <a:gridCol w="2628100"/>
              </a:tblGrid>
              <a:tr h="457200">
                <a:tc>
                  <a:txBody>
                    <a:bodyPr/>
                    <a:lstStyle/>
                    <a:p>
                      <a:pPr indent="0" lvl="0" marL="0" marR="0" rtl="0" algn="l">
                        <a:spcBef>
                          <a:spcPts val="0"/>
                        </a:spcBef>
                        <a:spcAft>
                          <a:spcPts val="0"/>
                        </a:spcAft>
                        <a:buNone/>
                      </a:pPr>
                      <a:r>
                        <a:rPr b="1" lang="es" sz="1100">
                          <a:solidFill>
                            <a:srgbClr val="FFFFFF"/>
                          </a:solidFill>
                          <a:latin typeface="Calibri"/>
                          <a:ea typeface="Calibri"/>
                          <a:cs typeface="Calibri"/>
                          <a:sym typeface="Calibri"/>
                        </a:rPr>
                        <a:t>Question</a:t>
                      </a:r>
                      <a:endParaRPr sz="1100"/>
                    </a:p>
                  </a:txBody>
                  <a:tcPr marT="34300" marB="34300" marR="68600" marL="68600">
                    <a:solidFill>
                      <a:srgbClr val="1565C0"/>
                    </a:solidFill>
                  </a:tcPr>
                </a:tc>
                <a:tc>
                  <a:txBody>
                    <a:bodyPr/>
                    <a:lstStyle/>
                    <a:p>
                      <a:pPr indent="0" lvl="0" marL="0" marR="0" rtl="0" algn="l">
                        <a:spcBef>
                          <a:spcPts val="0"/>
                        </a:spcBef>
                        <a:spcAft>
                          <a:spcPts val="0"/>
                        </a:spcAft>
                        <a:buNone/>
                      </a:pPr>
                      <a:r>
                        <a:rPr b="1" lang="es" sz="1100">
                          <a:solidFill>
                            <a:srgbClr val="FFFFFF"/>
                          </a:solidFill>
                          <a:latin typeface="Calibri"/>
                          <a:ea typeface="Calibri"/>
                          <a:cs typeface="Calibri"/>
                          <a:sym typeface="Calibri"/>
                        </a:rPr>
                        <a:t>Details</a:t>
                      </a:r>
                      <a:endParaRPr sz="1100"/>
                    </a:p>
                  </a:txBody>
                  <a:tcPr marT="34300" marB="34300" marR="68600" marL="68600">
                    <a:solidFill>
                      <a:srgbClr val="1565C0"/>
                    </a:solidFill>
                  </a:tcPr>
                </a:tc>
              </a:tr>
              <a:tr h="457200">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Structure: ?</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How to formally specify the required traversal path?</a:t>
                      </a:r>
                      <a:endParaRPr sz="1100"/>
                    </a:p>
                  </a:txBody>
                  <a:tcPr marT="34300" marB="34300" marR="68600" marL="68600"/>
                </a:tc>
              </a:tr>
              <a:tr h="457200">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propertyID: SSSOM mapping</a:t>
                      </a:r>
                      <a:endParaRPr sz="1100"/>
                    </a:p>
                  </a:txBody>
                  <a:tcPr marT="34300" marB="34300" marR="68600" marL="68600"/>
                </a:tc>
                <a:tc>
                  <a:txBody>
                    <a:bodyPr/>
                    <a:lstStyle/>
                    <a:p>
                      <a:pPr indent="0" lvl="0" marL="0" marR="0" rtl="0" algn="l">
                        <a:spcBef>
                          <a:spcPts val="0"/>
                        </a:spcBef>
                        <a:spcAft>
                          <a:spcPts val="0"/>
                        </a:spcAft>
                        <a:buNone/>
                      </a:pPr>
                      <a:r>
                        <a:rPr b="0" lang="es" sz="1100">
                          <a:solidFill>
                            <a:srgbClr val="000000"/>
                          </a:solidFill>
                          <a:latin typeface="Calibri"/>
                          <a:ea typeface="Calibri"/>
                          <a:cs typeface="Calibri"/>
                          <a:sym typeface="Calibri"/>
                        </a:rPr>
                        <a:t>How to standardize ontology term mappings?</a:t>
                      </a:r>
                      <a:endParaRPr sz="1100"/>
                    </a:p>
                  </a:txBody>
                  <a:tcPr marT="34300" marB="34300" marR="68600" marL="68600"/>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