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A642EC-8CF4-49A9-9986-8B6D0BCDDF98}">
  <a:tblStyle styleId="{D2A642EC-8CF4-49A9-9986-8B6D0BCDDF9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e512eb6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de512eb60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de512eb60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de512eb60_2_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de512eb60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de512eb60_2_9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e512eb60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de512eb60_2_9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de512eb60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de512eb60_2_10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e512eb60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de512eb60_2_11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342909" y="1714500"/>
            <a:ext cx="8229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7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Schema.org → ARC → FAIRagro Workflow</a:t>
            </a:r>
            <a:endParaRPr sz="1100"/>
          </a:p>
        </p:txBody>
      </p:sp>
      <p:sp>
        <p:nvSpPr>
          <p:cNvPr id="130" name="Google Shape;130;p25"/>
          <p:cNvSpPr txBox="1"/>
          <p:nvPr/>
        </p:nvSpPr>
        <p:spPr>
          <a:xfrm>
            <a:off x="342909" y="2743200"/>
            <a:ext cx="82298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500">
                <a:solidFill>
                  <a:srgbClr val="616161"/>
                </a:solidFill>
                <a:latin typeface="Calibri"/>
                <a:ea typeface="Calibri"/>
                <a:cs typeface="Calibri"/>
                <a:sym typeface="Calibri"/>
              </a:rPr>
              <a:t>TA3/4 Retreat 2026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342909" y="20574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FAIRagro Metadata Transformation Pipeline</a:t>
            </a:r>
            <a:endParaRPr sz="1100"/>
          </a:p>
        </p:txBody>
      </p:sp>
      <p:pic>
        <p:nvPicPr>
          <p:cNvPr descr="slide1-pipeline.png" id="136" name="Google Shape;1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9" y="1028700"/>
            <a:ext cx="8229600" cy="141098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/>
        </p:nvSpPr>
        <p:spPr>
          <a:xfrm>
            <a:off x="378900" y="3074000"/>
            <a:ext cx="73755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Sequential dependency: Output B (FAIRagro JSON) is derived from Output A (ARC RO-Crate) — not a parallel output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harvest paths converge on the same FAIRagro JSON schema: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• Path 1 (solid): Direct harvest from GitLab DataHub where ARCs are stored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• Path 2 (dashed): Via FAIRagro Middleware API (federated service)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 paths produce identical FAIRagro schema.json ingested into SearchHub</a:t>
            </a:r>
            <a:endParaRPr sz="1100"/>
          </a:p>
        </p:txBody>
      </p:sp>
      <p:sp>
        <p:nvSpPr>
          <p:cNvPr id="138" name="Google Shape;138;p26"/>
          <p:cNvSpPr txBox="1"/>
          <p:nvPr/>
        </p:nvSpPr>
        <p:spPr>
          <a:xfrm>
            <a:off x="342907" y="2681600"/>
            <a:ext cx="150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342909" y="20574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Three File Scenarios: Input → ARC → FAIRagro Output</a:t>
            </a:r>
            <a:endParaRPr sz="1100"/>
          </a:p>
        </p:txBody>
      </p:sp>
      <p:graphicFrame>
        <p:nvGraphicFramePr>
          <p:cNvPr id="144" name="Google Shape;144;p27"/>
          <p:cNvGraphicFramePr/>
          <p:nvPr/>
        </p:nvGraphicFramePr>
        <p:xfrm>
          <a:off x="342909" y="1028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{D2A642EC-8CF4-49A9-9986-8B6D0BCDDF98}</a:tableStyleId>
              </a:tblPr>
              <a:tblGrid>
                <a:gridCol w="2057450"/>
                <a:gridCol w="2057450"/>
                <a:gridCol w="2057450"/>
                <a:gridCol w="2057450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File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 Output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FAIRagro Output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565C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Synthetic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schema-org-wheat-full.json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arc-ro-crate-wheat-full ✓ compliant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extraction ✓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— Small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arc-ro-crate-dronflyover.json (&lt;10 MB)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Manual, partial ⚠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— mappable fields only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— Large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arc-ro-crate-muenchenberg-lte.json (&gt;100 MB)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Manual, partial ⚠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harvest only</a:t>
                      </a:r>
                      <a:endParaRPr sz="11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45" name="Google Shape;145;p27"/>
          <p:cNvSpPr txBox="1"/>
          <p:nvPr/>
        </p:nvSpPr>
        <p:spPr>
          <a:xfrm>
            <a:off x="342909" y="3429000"/>
            <a:ext cx="82298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💡 If an ARC follows the FAIRagro specification → full metadata extraction. If not → only basic information is harvested.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/>
        </p:nvSpPr>
        <p:spPr>
          <a:xfrm>
            <a:off x="342909" y="20574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Examining ARC Structure: Domain Objects at Different Depths</a:t>
            </a:r>
            <a:endParaRPr sz="1100"/>
          </a:p>
        </p:txBody>
      </p:sp>
      <p:sp>
        <p:nvSpPr>
          <p:cNvPr id="151" name="Google Shape;151;p28"/>
          <p:cNvSpPr txBox="1"/>
          <p:nvPr/>
        </p:nvSpPr>
        <p:spPr>
          <a:xfrm>
            <a:off x="342900" y="1597150"/>
            <a:ext cx="45027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Understand how Agrischemas concepts map into ARC RO-Crate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Show that equivalent domain concepts require very different traversal depths</a:t>
            </a:r>
            <a:endParaRPr sz="1100"/>
          </a:p>
        </p:txBody>
      </p:sp>
      <p:pic>
        <p:nvPicPr>
          <p:cNvPr descr="slide3-drone.png" id="152" name="Google Shape;1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1600" y="625150"/>
            <a:ext cx="2901600" cy="442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/>
        </p:nvSpPr>
        <p:spPr>
          <a:xfrm>
            <a:off x="342909" y="4663440"/>
            <a:ext cx="822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00">
                <a:solidFill>
                  <a:srgbClr val="616161"/>
                </a:solidFill>
                <a:latin typeface="Calibri"/>
                <a:ea typeface="Calibri"/>
                <a:cs typeface="Calibri"/>
                <a:sym typeface="Calibri"/>
              </a:rPr>
              <a:t>Example ARC RO-Crate: UC13 drone-flyover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/>
        </p:nvSpPr>
        <p:spPr>
          <a:xfrm>
            <a:off x="342909" y="20574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Müncheberg ARC: A Different Structural Pattern</a:t>
            </a:r>
            <a:endParaRPr sz="1100"/>
          </a:p>
        </p:txBody>
      </p:sp>
      <p:sp>
        <p:nvSpPr>
          <p:cNvPr id="159" name="Google Shape;159;p29"/>
          <p:cNvSpPr txBox="1"/>
          <p:nvPr/>
        </p:nvSpPr>
        <p:spPr>
          <a:xfrm>
            <a:off x="342900" y="891550"/>
            <a:ext cx="3955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Show another real ARC with a different structural pattern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Reinforce that parser must handle multiple modeling conventions</a:t>
            </a:r>
            <a:endParaRPr sz="1100"/>
          </a:p>
        </p:txBody>
      </p:sp>
      <p:pic>
        <p:nvPicPr>
          <p:cNvPr descr="slide4-muenchenberg.png" id="160" name="Google Shape;1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5201" y="653050"/>
            <a:ext cx="4776324" cy="173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 txBox="1"/>
          <p:nvPr/>
        </p:nvSpPr>
        <p:spPr>
          <a:xfrm>
            <a:off x="342909" y="466344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00">
                <a:solidFill>
                  <a:srgbClr val="616161"/>
                </a:solidFill>
                <a:latin typeface="Calibri"/>
                <a:ea typeface="Calibri"/>
                <a:cs typeface="Calibri"/>
                <a:sym typeface="Calibri"/>
              </a:rPr>
              <a:t>Example ARC RO-Crate: Müncheberg LTE</a:t>
            </a:r>
            <a:endParaRPr sz="1100"/>
          </a:p>
        </p:txBody>
      </p:sp>
      <p:sp>
        <p:nvSpPr>
          <p:cNvPr id="162" name="Google Shape;162;p29"/>
          <p:cNvSpPr txBox="1"/>
          <p:nvPr/>
        </p:nvSpPr>
        <p:spPr>
          <a:xfrm>
            <a:off x="342901" y="2371350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Comparison: Drone Flyover vs Müncheberg</a:t>
            </a:r>
            <a:endParaRPr sz="500"/>
          </a:p>
        </p:txBody>
      </p:sp>
      <p:graphicFrame>
        <p:nvGraphicFramePr>
          <p:cNvPr id="163" name="Google Shape;163;p29"/>
          <p:cNvGraphicFramePr/>
          <p:nvPr/>
        </p:nvGraphicFramePr>
        <p:xfrm>
          <a:off x="429309" y="2748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{D2A642EC-8CF4-49A9-9986-8B6D0BCDDF98}</a:tableStyleId>
              </a:tblPr>
              <a:tblGrid>
                <a:gridCol w="2810450"/>
                <a:gridCol w="2810450"/>
                <a:gridCol w="2810450"/>
              </a:tblGrid>
              <a:tr h="26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Drone Flyover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Müncheberg LTE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565C0"/>
                    </a:solidFill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Study entity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Explicit, in hasPart chain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 but disconnected (not in hasPart)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6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Crop species path (short)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Study → LabProcess → Sample → PropertyValue (4 hops)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→ additionalProperty → CharacteristicValue (2 hops)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6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Crop species path (long)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as short (only path)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ALSO via LabProcess → object → Source → additionalProperty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6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 metadata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 (DefinedTerm)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Absent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6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Assay count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27+</a:t>
                      </a:r>
                      <a:endParaRPr sz="11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342909" y="20574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Required Modeling Pattern &amp; Standardization Gap</a:t>
            </a:r>
            <a:endParaRPr sz="1100"/>
          </a:p>
        </p:txBody>
      </p:sp>
      <p:sp>
        <p:nvSpPr>
          <p:cNvPr id="169" name="Google Shape;169;p30"/>
          <p:cNvSpPr txBox="1"/>
          <p:nvPr/>
        </p:nvSpPr>
        <p:spPr>
          <a:xfrm>
            <a:off x="342909" y="891540"/>
            <a:ext cx="822981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Define the required path for unambiguous extraction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Identify what still needs standardization</a:t>
            </a:r>
            <a:endParaRPr sz="1100"/>
          </a:p>
        </p:txBody>
      </p:sp>
      <p:pic>
        <p:nvPicPr>
          <p:cNvPr descr="slide5-required.png" id="170" name="Google Shape;1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0625" y="618925"/>
            <a:ext cx="3063700" cy="44210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/>
          <p:nvPr/>
        </p:nvSpPr>
        <p:spPr>
          <a:xfrm>
            <a:off x="422105" y="1548900"/>
            <a:ext cx="3401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In bold: required objects/properties to represent Crop</a:t>
            </a:r>
            <a:endParaRPr sz="1100"/>
          </a:p>
        </p:txBody>
      </p:sp>
      <p:sp>
        <p:nvSpPr>
          <p:cNvPr id="172" name="Google Shape;172;p30"/>
          <p:cNvSpPr txBox="1"/>
          <p:nvPr/>
        </p:nvSpPr>
        <p:spPr>
          <a:xfrm>
            <a:off x="422105" y="1754650"/>
            <a:ext cx="3775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00">
                <a:solidFill>
                  <a:srgbClr val="616161"/>
                </a:solidFill>
                <a:latin typeface="Calibri"/>
                <a:ea typeface="Calibri"/>
                <a:cs typeface="Calibri"/>
                <a:sym typeface="Calibri"/>
              </a:rPr>
              <a:t>Example ARC RO-Crate: UC13 drone-flyover</a:t>
            </a:r>
            <a:endParaRPr sz="1100"/>
          </a:p>
        </p:txBody>
      </p:sp>
      <p:sp>
        <p:nvSpPr>
          <p:cNvPr id="173" name="Google Shape;173;p30"/>
          <p:cNvSpPr txBox="1"/>
          <p:nvPr/>
        </p:nvSpPr>
        <p:spPr>
          <a:xfrm>
            <a:off x="270899" y="2738150"/>
            <a:ext cx="2083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Open Questions</a:t>
            </a:r>
            <a:endParaRPr sz="1600"/>
          </a:p>
        </p:txBody>
      </p:sp>
      <p:graphicFrame>
        <p:nvGraphicFramePr>
          <p:cNvPr id="174" name="Google Shape;174;p30"/>
          <p:cNvGraphicFramePr/>
          <p:nvPr/>
        </p:nvGraphicFramePr>
        <p:xfrm>
          <a:off x="270909" y="3201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{D2A642EC-8CF4-49A9-9986-8B6D0BCDDF98}</a:tableStyleId>
              </a:tblPr>
              <a:tblGrid>
                <a:gridCol w="2628100"/>
                <a:gridCol w="26281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5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Structure: ?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to formally specify the required traversal path?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propertyID: SSSOM mapping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to standardize ontology term mappings?</a:t>
                      </a:r>
                      <a:endParaRPr sz="11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